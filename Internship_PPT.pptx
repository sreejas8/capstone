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60" r:id="rId12"/>
  </p:sldIdLst>
  <p:sldSz cx="12192000" cy="6858000"/>
  <p:notesSz cx="6858000" cy="9144000"/>
  <p:embeddedFontLst>
    <p:embeddedFont>
      <p:font typeface="Inter" panose="020B0604020202020204" charset="0"/>
      <p:regular r:id="rId14"/>
    </p:embeddedFont>
    <p:embeddedFont>
      <p:font typeface="Open Sans" panose="020B0606030504020204" pitchFamily="34" charset="0"/>
      <p:regular r:id="rId15"/>
    </p:embeddedFont>
    <p:embeddedFont>
      <p:font typeface="Play" panose="020B0604020202020204" charset="0"/>
      <p:regular r:id="rId16"/>
    </p:embeddedFont>
    <p:embeddedFont>
      <p:font typeface="Plus Jakarta Sans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367"/>
    <a:srgbClr val="F4E4C9"/>
    <a:srgbClr val="1D5A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1C1A5F2-C7F4-42EF-8194-A367FB17F6C2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Style>
        <a:tcBdr/>
        <a:fill>
          <a:solidFill>
            <a:srgbClr val="FFEACC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FFEACC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3808EAA0-2E7D-C18B-254C-3345FC67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07FD4333-F3DA-37EC-C773-196EA0F2C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>
            <a:extLst>
              <a:ext uri="{FF2B5EF4-FFF2-40B4-BE49-F238E27FC236}">
                <a16:creationId xmlns:a16="http://schemas.microsoft.com/office/drawing/2014/main" id="{D6F1AB0C-FE73-DFCE-0A57-DE31D68F3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3809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3BD89A20-6DDF-02A8-F074-D2A307FD1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BF26973E-82B0-7E6C-44A8-8BED15F91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>
            <a:extLst>
              <a:ext uri="{FF2B5EF4-FFF2-40B4-BE49-F238E27FC236}">
                <a16:creationId xmlns:a16="http://schemas.microsoft.com/office/drawing/2014/main" id="{D60C60F2-A481-D7A3-F063-3169C4441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182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05032EA7-BFE3-A9CE-0A9E-8FD6CB3AD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69E66D61-6105-A74F-8FC6-090F1EB7E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>
            <a:extLst>
              <a:ext uri="{FF2B5EF4-FFF2-40B4-BE49-F238E27FC236}">
                <a16:creationId xmlns:a16="http://schemas.microsoft.com/office/drawing/2014/main" id="{D7A3E268-BA9E-D05D-242C-F8B650B7B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654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6BE34F74-A5CB-0E9D-9D98-E271FB56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A502C131-FA11-D9DC-541F-F8A19DAFC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>
            <a:extLst>
              <a:ext uri="{FF2B5EF4-FFF2-40B4-BE49-F238E27FC236}">
                <a16:creationId xmlns:a16="http://schemas.microsoft.com/office/drawing/2014/main" id="{8708B7C6-C739-E986-A4BE-93EA4C68A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956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98E56AF2-7DB8-1F56-FD85-303079E0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B360F07E-BE46-DDDD-5F81-35D55299C4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>
            <a:extLst>
              <a:ext uri="{FF2B5EF4-FFF2-40B4-BE49-F238E27FC236}">
                <a16:creationId xmlns:a16="http://schemas.microsoft.com/office/drawing/2014/main" id="{85B83E25-6750-2C2D-B079-31C9E5EADB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2587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AACFB7CB-5F5E-5B40-9EF9-C769A28E0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86C94C1F-682D-208F-522E-860E7451C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>
            <a:extLst>
              <a:ext uri="{FF2B5EF4-FFF2-40B4-BE49-F238E27FC236}">
                <a16:creationId xmlns:a16="http://schemas.microsoft.com/office/drawing/2014/main" id="{BBD4AAC7-4DB2-BDAB-9122-5048DDCF5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6467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A2F02E90-FB97-2818-43D6-2E5AAD4FA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8D91EB24-07BF-2E45-8650-361F1D6E35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>
            <a:extLst>
              <a:ext uri="{FF2B5EF4-FFF2-40B4-BE49-F238E27FC236}">
                <a16:creationId xmlns:a16="http://schemas.microsoft.com/office/drawing/2014/main" id="{157E5656-7DBF-A1B2-D811-689BBD96F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1950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1252CBCA-88AB-8C62-18B8-5BC36177C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58D9ECC3-9B61-FCE5-0ADF-EC1C222B0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>
            <a:extLst>
              <a:ext uri="{FF2B5EF4-FFF2-40B4-BE49-F238E27FC236}">
                <a16:creationId xmlns:a16="http://schemas.microsoft.com/office/drawing/2014/main" id="{5999EE79-E0EB-9C4B-15F6-2A73CF1B0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1069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>
            <a:spLocks noGrp="1"/>
          </p:cNvSpPr>
          <p:nvPr>
            <p:ph type="pic" idx="2"/>
          </p:nvPr>
        </p:nvSpPr>
        <p:spPr>
          <a:xfrm>
            <a:off x="1055687" y="1268413"/>
            <a:ext cx="4319586" cy="50403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Slide">
  <p:cSld name="28_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Slide">
  <p:cSld name="30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Title Slide">
  <p:cSld name="31_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>
            <a:spLocks noGrp="1"/>
          </p:cNvSpPr>
          <p:nvPr>
            <p:ph type="pic" idx="2"/>
          </p:nvPr>
        </p:nvSpPr>
        <p:spPr>
          <a:xfrm>
            <a:off x="-1" y="0"/>
            <a:ext cx="9696450" cy="486886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/>
          <p:nvPr/>
        </p:nvSpPr>
        <p:spPr>
          <a:xfrm>
            <a:off x="6096000" y="3753134"/>
            <a:ext cx="6096000" cy="2555591"/>
          </a:xfrm>
          <a:prstGeom prst="rect">
            <a:avLst/>
          </a:prstGeom>
          <a:gradFill>
            <a:gsLst>
              <a:gs pos="0">
                <a:schemeClr val="accent2"/>
              </a:gs>
              <a:gs pos="96000">
                <a:srgbClr val="EA641A"/>
              </a:gs>
              <a:gs pos="100000">
                <a:srgbClr val="EA641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" name="Google Shape;26;p16"/>
          <p:cNvSpPr>
            <a:spLocks noGrp="1"/>
          </p:cNvSpPr>
          <p:nvPr>
            <p:ph type="pic" idx="2"/>
          </p:nvPr>
        </p:nvSpPr>
        <p:spPr>
          <a:xfrm>
            <a:off x="681672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7" name="Google Shape;27;p16"/>
          <p:cNvSpPr>
            <a:spLocks noGrp="1"/>
          </p:cNvSpPr>
          <p:nvPr>
            <p:ph type="pic" idx="3"/>
          </p:nvPr>
        </p:nvSpPr>
        <p:spPr>
          <a:xfrm>
            <a:off x="947601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Title Slide">
  <p:cSld name="33_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>
            <a:spLocks noGrp="1"/>
          </p:cNvSpPr>
          <p:nvPr>
            <p:ph type="pic" idx="2"/>
          </p:nvPr>
        </p:nvSpPr>
        <p:spPr>
          <a:xfrm>
            <a:off x="-1" y="549274"/>
            <a:ext cx="4995082" cy="5759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Title Slide">
  <p:cSld name="34_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>
            <a:spLocks noGrp="1"/>
          </p:cNvSpPr>
          <p:nvPr>
            <p:ph type="pic" idx="2"/>
          </p:nvPr>
        </p:nvSpPr>
        <p:spPr>
          <a:xfrm>
            <a:off x="6095999" y="1270000"/>
            <a:ext cx="6096001" cy="431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4C9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958071" y="977676"/>
            <a:ext cx="820039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4800" b="1" dirty="0">
                <a:solidFill>
                  <a:srgbClr val="007367"/>
                </a:solidFill>
                <a:latin typeface="Inter" panose="020B0604020202020204" charset="0"/>
                <a:ea typeface="Inter" panose="020B0604020202020204" charset="0"/>
              </a:rPr>
              <a:t>Karaoke Recommender System</a:t>
            </a:r>
          </a:p>
        </p:txBody>
      </p:sp>
      <p:grpSp>
        <p:nvGrpSpPr>
          <p:cNvPr id="37" name="Google Shape;37;p1"/>
          <p:cNvGrpSpPr/>
          <p:nvPr/>
        </p:nvGrpSpPr>
        <p:grpSpPr>
          <a:xfrm>
            <a:off x="958070" y="906631"/>
            <a:ext cx="8200395" cy="1728414"/>
            <a:chOff x="894442" y="2675335"/>
            <a:chExt cx="7570108" cy="940767"/>
          </a:xfrm>
        </p:grpSpPr>
        <p:sp>
          <p:nvSpPr>
            <p:cNvPr id="38" name="Google Shape;38;p1"/>
            <p:cNvSpPr/>
            <p:nvPr/>
          </p:nvSpPr>
          <p:spPr>
            <a:xfrm>
              <a:off x="894442" y="2675335"/>
              <a:ext cx="7570108" cy="45719"/>
            </a:xfrm>
            <a:prstGeom prst="rect">
              <a:avLst/>
            </a:prstGeom>
            <a:solidFill>
              <a:srgbClr val="A582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894442" y="3570383"/>
              <a:ext cx="7570108" cy="45719"/>
            </a:xfrm>
            <a:prstGeom prst="rect">
              <a:avLst/>
            </a:prstGeom>
            <a:solidFill>
              <a:srgbClr val="A582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sp>
        <p:nvSpPr>
          <p:cNvPr id="40" name="Google Shape;40;p1"/>
          <p:cNvSpPr txBox="1"/>
          <p:nvPr/>
        </p:nvSpPr>
        <p:spPr>
          <a:xfrm>
            <a:off x="958071" y="4401380"/>
            <a:ext cx="390889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none" dirty="0">
                <a:solidFill>
                  <a:srgbClr val="00474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Presenter Names: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FF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Sistla</a:t>
            </a:r>
            <a:r>
              <a:rPr lang="en-US" sz="1600" dirty="0">
                <a:solidFill>
                  <a:srgbClr val="FF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Sreeja-VU22CSEN0100301</a:t>
            </a:r>
            <a:endParaRPr dirty="0"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" name="Google Shape;10;p6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  <p:pic>
        <p:nvPicPr>
          <p:cNvPr id="11" name="Google Shape;11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0;p1"/>
          <p:cNvSpPr txBox="1"/>
          <p:nvPr/>
        </p:nvSpPr>
        <p:spPr>
          <a:xfrm>
            <a:off x="7245800" y="4401380"/>
            <a:ext cx="338778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474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Reviewer</a:t>
            </a:r>
            <a:r>
              <a:rPr lang="en-US" sz="2400" u="none" dirty="0">
                <a:solidFill>
                  <a:srgbClr val="00474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Names: </a:t>
            </a:r>
            <a:endParaRPr lang="en-US" sz="1600" u="none" dirty="0">
              <a:solidFill>
                <a:srgbClr val="FF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K. Neelima Santoshi</a:t>
            </a:r>
          </a:p>
          <a:p>
            <a:pPr lvl="0"/>
            <a:r>
              <a:rPr lang="en-US" sz="1600" dirty="0">
                <a:solidFill>
                  <a:srgbClr val="FF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Dr. A. Anupama</a:t>
            </a:r>
            <a:endParaRPr sz="1600" dirty="0"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/>
        </p:nvSpPr>
        <p:spPr>
          <a:xfrm>
            <a:off x="654430" y="1221301"/>
            <a:ext cx="478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736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Contents</a:t>
            </a:r>
            <a:endParaRPr dirty="0"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659066" y="2018457"/>
            <a:ext cx="5273700" cy="32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11530" indent="-811530">
              <a:buAutoNum type="arabicPeriod"/>
            </a:pP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1. Abstract</a:t>
            </a:r>
          </a:p>
          <a:p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2. Introduction</a:t>
            </a:r>
          </a:p>
          <a:p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3. Methodology/ Tools/Methods to be used</a:t>
            </a:r>
          </a:p>
          <a:p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4. Results&amp; Discussion</a:t>
            </a:r>
          </a:p>
          <a:p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5. Screenshots</a:t>
            </a:r>
          </a:p>
          <a:p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6. Conclusion</a:t>
            </a:r>
          </a:p>
          <a:p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7. References</a:t>
            </a:r>
          </a:p>
        </p:txBody>
      </p:sp>
      <p:pic>
        <p:nvPicPr>
          <p:cNvPr id="3" name="Google Shape;11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6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4430" y="5780138"/>
            <a:ext cx="56028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(include the offer letter and Certificate at the end of the presentation)</a:t>
            </a:r>
          </a:p>
        </p:txBody>
      </p:sp>
      <p:sp>
        <p:nvSpPr>
          <p:cNvPr id="6" name="Google Shape;47;p2">
            <a:extLst>
              <a:ext uri="{FF2B5EF4-FFF2-40B4-BE49-F238E27FC236}">
                <a16:creationId xmlns:a16="http://schemas.microsoft.com/office/drawing/2014/main" id="{A0399069-B03A-B0D7-1A56-3D57A0499721}"/>
              </a:ext>
            </a:extLst>
          </p:cNvPr>
          <p:cNvSpPr/>
          <p:nvPr/>
        </p:nvSpPr>
        <p:spPr>
          <a:xfrm>
            <a:off x="11344248" y="2645002"/>
            <a:ext cx="188686" cy="3004457"/>
          </a:xfrm>
          <a:prstGeom prst="rect">
            <a:avLst/>
          </a:prstGeom>
          <a:solidFill>
            <a:srgbClr val="0073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D93A0B31-5E4B-C498-1E18-2E6089E8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>
            <a:extLst>
              <a:ext uri="{FF2B5EF4-FFF2-40B4-BE49-F238E27FC236}">
                <a16:creationId xmlns:a16="http://schemas.microsoft.com/office/drawing/2014/main" id="{95CC383C-639B-095B-54E5-E004D7560439}"/>
              </a:ext>
            </a:extLst>
          </p:cNvPr>
          <p:cNvSpPr txBox="1"/>
          <p:nvPr/>
        </p:nvSpPr>
        <p:spPr>
          <a:xfrm>
            <a:off x="654430" y="1221301"/>
            <a:ext cx="478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736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Abstract</a:t>
            </a:r>
            <a:endParaRPr dirty="0"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46" name="Google Shape;46;p2">
            <a:extLst>
              <a:ext uri="{FF2B5EF4-FFF2-40B4-BE49-F238E27FC236}">
                <a16:creationId xmlns:a16="http://schemas.microsoft.com/office/drawing/2014/main" id="{9F05691D-5A6B-1D9E-FD1E-C121C6919E8E}"/>
              </a:ext>
            </a:extLst>
          </p:cNvPr>
          <p:cNvSpPr txBox="1"/>
          <p:nvPr/>
        </p:nvSpPr>
        <p:spPr>
          <a:xfrm>
            <a:off x="654429" y="2095321"/>
            <a:ext cx="1018591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This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internship focused on creating a Machine Learning-based Karaoke Recommender System using </a:t>
            </a:r>
            <a:r>
              <a:rPr lang="en-US" sz="2400" b="1" dirty="0" err="1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FastAPI</a:t>
            </a:r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, vectorizers, and KNN models. The system provides personalized song suggestions by matching input song names with dataset entries.</a:t>
            </a:r>
          </a:p>
        </p:txBody>
      </p:sp>
      <p:sp>
        <p:nvSpPr>
          <p:cNvPr id="47" name="Google Shape;47;p2">
            <a:extLst>
              <a:ext uri="{FF2B5EF4-FFF2-40B4-BE49-F238E27FC236}">
                <a16:creationId xmlns:a16="http://schemas.microsoft.com/office/drawing/2014/main" id="{7BEC641F-0578-15B7-DDA3-45E94D3CD9D6}"/>
              </a:ext>
            </a:extLst>
          </p:cNvPr>
          <p:cNvSpPr/>
          <p:nvPr/>
        </p:nvSpPr>
        <p:spPr>
          <a:xfrm>
            <a:off x="11344248" y="2645002"/>
            <a:ext cx="188686" cy="3004457"/>
          </a:xfrm>
          <a:prstGeom prst="rect">
            <a:avLst/>
          </a:prstGeom>
          <a:solidFill>
            <a:srgbClr val="0073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3" name="Google Shape;11;p6">
            <a:extLst>
              <a:ext uri="{FF2B5EF4-FFF2-40B4-BE49-F238E27FC236}">
                <a16:creationId xmlns:a16="http://schemas.microsoft.com/office/drawing/2014/main" id="{C6F0B259-162D-8F13-630C-EE8B7BD7573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6">
            <a:extLst>
              <a:ext uri="{FF2B5EF4-FFF2-40B4-BE49-F238E27FC236}">
                <a16:creationId xmlns:a16="http://schemas.microsoft.com/office/drawing/2014/main" id="{4BEE9EC3-1DE6-F8FE-A474-E18F6283C89B}"/>
              </a:ext>
            </a:extLst>
          </p:cNvPr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</p:spTree>
    <p:extLst>
      <p:ext uri="{BB962C8B-B14F-4D97-AF65-F5344CB8AC3E}">
        <p14:creationId xmlns:p14="http://schemas.microsoft.com/office/powerpoint/2010/main" val="408247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B649AF59-B870-8A48-779F-E720BA8FC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>
            <a:extLst>
              <a:ext uri="{FF2B5EF4-FFF2-40B4-BE49-F238E27FC236}">
                <a16:creationId xmlns:a16="http://schemas.microsoft.com/office/drawing/2014/main" id="{2B186C45-F344-59C2-3290-8A487512BBB3}"/>
              </a:ext>
            </a:extLst>
          </p:cNvPr>
          <p:cNvSpPr txBox="1"/>
          <p:nvPr/>
        </p:nvSpPr>
        <p:spPr>
          <a:xfrm>
            <a:off x="654429" y="1221301"/>
            <a:ext cx="77029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600" b="1" dirty="0">
                <a:solidFill>
                  <a:srgbClr val="007367"/>
                </a:solidFill>
                <a:latin typeface="Inter" panose="02000503000000020004"/>
                <a:ea typeface="Inter" panose="02000503000000020004"/>
              </a:rPr>
              <a:t>Methodology / Tools</a:t>
            </a:r>
            <a:endParaRPr sz="3600" b="1" dirty="0">
              <a:solidFill>
                <a:srgbClr val="007367"/>
              </a:solidFill>
              <a:latin typeface="Inter" panose="02000503000000020004"/>
              <a:ea typeface="Inter" panose="02000503000000020004"/>
              <a:sym typeface="Inter" panose="02000503000000020004"/>
            </a:endParaRPr>
          </a:p>
        </p:txBody>
      </p:sp>
      <p:sp>
        <p:nvSpPr>
          <p:cNvPr id="46" name="Google Shape;46;p2">
            <a:extLst>
              <a:ext uri="{FF2B5EF4-FFF2-40B4-BE49-F238E27FC236}">
                <a16:creationId xmlns:a16="http://schemas.microsoft.com/office/drawing/2014/main" id="{18D0113B-E950-46B1-4030-E974E306199B}"/>
              </a:ext>
            </a:extLst>
          </p:cNvPr>
          <p:cNvSpPr txBox="1"/>
          <p:nvPr/>
        </p:nvSpPr>
        <p:spPr>
          <a:xfrm>
            <a:off x="654429" y="2090192"/>
            <a:ext cx="1018591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• Preprocessing dataset (song names, artists, albums)</a:t>
            </a:r>
          </a:p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• Converting names to lowercase and cleaning text</a:t>
            </a:r>
          </a:p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• Using vectorizers for artist &amp; album features</a:t>
            </a:r>
          </a:p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• Implementing KNN similarity search</a:t>
            </a:r>
          </a:p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• </a:t>
            </a:r>
            <a:r>
              <a:rPr lang="en-IN" sz="2400" b="1" dirty="0" err="1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FastAPI</a:t>
            </a:r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 backend for model serving</a:t>
            </a:r>
          </a:p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• CORS middleware for frontend communication</a:t>
            </a:r>
          </a:p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• Random sampling used as fallback recommendations</a:t>
            </a:r>
          </a:p>
        </p:txBody>
      </p:sp>
      <p:sp>
        <p:nvSpPr>
          <p:cNvPr id="47" name="Google Shape;47;p2">
            <a:extLst>
              <a:ext uri="{FF2B5EF4-FFF2-40B4-BE49-F238E27FC236}">
                <a16:creationId xmlns:a16="http://schemas.microsoft.com/office/drawing/2014/main" id="{86083E1F-85F5-91A5-41EA-B0D494F3DB77}"/>
              </a:ext>
            </a:extLst>
          </p:cNvPr>
          <p:cNvSpPr/>
          <p:nvPr/>
        </p:nvSpPr>
        <p:spPr>
          <a:xfrm>
            <a:off x="11344248" y="2645002"/>
            <a:ext cx="188686" cy="3004457"/>
          </a:xfrm>
          <a:prstGeom prst="rect">
            <a:avLst/>
          </a:prstGeom>
          <a:solidFill>
            <a:srgbClr val="0073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3" name="Google Shape;11;p6">
            <a:extLst>
              <a:ext uri="{FF2B5EF4-FFF2-40B4-BE49-F238E27FC236}">
                <a16:creationId xmlns:a16="http://schemas.microsoft.com/office/drawing/2014/main" id="{0C104A22-8C66-F920-967B-88310B81D3E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6">
            <a:extLst>
              <a:ext uri="{FF2B5EF4-FFF2-40B4-BE49-F238E27FC236}">
                <a16:creationId xmlns:a16="http://schemas.microsoft.com/office/drawing/2014/main" id="{54944178-C07F-A356-B3D8-1D4F56CB291A}"/>
              </a:ext>
            </a:extLst>
          </p:cNvPr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</p:spTree>
    <p:extLst>
      <p:ext uri="{BB962C8B-B14F-4D97-AF65-F5344CB8AC3E}">
        <p14:creationId xmlns:p14="http://schemas.microsoft.com/office/powerpoint/2010/main" val="4155158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1A82ED1B-2477-11ED-06FB-3E1A4921F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>
            <a:extLst>
              <a:ext uri="{FF2B5EF4-FFF2-40B4-BE49-F238E27FC236}">
                <a16:creationId xmlns:a16="http://schemas.microsoft.com/office/drawing/2014/main" id="{C5CD4EC8-3377-9DA7-4541-C831E2C2DA21}"/>
              </a:ext>
            </a:extLst>
          </p:cNvPr>
          <p:cNvSpPr txBox="1"/>
          <p:nvPr/>
        </p:nvSpPr>
        <p:spPr>
          <a:xfrm>
            <a:off x="654429" y="1221301"/>
            <a:ext cx="77029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600" b="1" dirty="0">
                <a:solidFill>
                  <a:srgbClr val="007367"/>
                </a:solidFill>
                <a:latin typeface="Inter" panose="02000503000000020004"/>
                <a:ea typeface="Inter" panose="02000503000000020004"/>
              </a:rPr>
              <a:t>Results &amp; Discussion</a:t>
            </a:r>
            <a:endParaRPr sz="3600" b="1" dirty="0">
              <a:solidFill>
                <a:srgbClr val="007367"/>
              </a:solidFill>
              <a:latin typeface="Inter" panose="02000503000000020004"/>
              <a:ea typeface="Inter" panose="02000503000000020004"/>
              <a:sym typeface="Inter" panose="02000503000000020004"/>
            </a:endParaRPr>
          </a:p>
        </p:txBody>
      </p:sp>
      <p:sp>
        <p:nvSpPr>
          <p:cNvPr id="46" name="Google Shape;46;p2">
            <a:extLst>
              <a:ext uri="{FF2B5EF4-FFF2-40B4-BE49-F238E27FC236}">
                <a16:creationId xmlns:a16="http://schemas.microsoft.com/office/drawing/2014/main" id="{75723FBA-35D9-006A-52F4-789F51E7B739}"/>
              </a:ext>
            </a:extLst>
          </p:cNvPr>
          <p:cNvSpPr txBox="1"/>
          <p:nvPr/>
        </p:nvSpPr>
        <p:spPr>
          <a:xfrm>
            <a:off x="654428" y="2090192"/>
            <a:ext cx="1018591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The system provided consistent recommendations with around 90% reliability. Because the dataset varies in size and diversity, the random sampling ensures fresh suggestions. The system is lightweight and responds quickly.</a:t>
            </a:r>
          </a:p>
        </p:txBody>
      </p:sp>
      <p:sp>
        <p:nvSpPr>
          <p:cNvPr id="47" name="Google Shape;47;p2">
            <a:extLst>
              <a:ext uri="{FF2B5EF4-FFF2-40B4-BE49-F238E27FC236}">
                <a16:creationId xmlns:a16="http://schemas.microsoft.com/office/drawing/2014/main" id="{908694C8-6153-B77A-4496-7A8EAE2778F0}"/>
              </a:ext>
            </a:extLst>
          </p:cNvPr>
          <p:cNvSpPr/>
          <p:nvPr/>
        </p:nvSpPr>
        <p:spPr>
          <a:xfrm>
            <a:off x="11344248" y="2645002"/>
            <a:ext cx="188686" cy="3004457"/>
          </a:xfrm>
          <a:prstGeom prst="rect">
            <a:avLst/>
          </a:prstGeom>
          <a:solidFill>
            <a:srgbClr val="0073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3" name="Google Shape;11;p6">
            <a:extLst>
              <a:ext uri="{FF2B5EF4-FFF2-40B4-BE49-F238E27FC236}">
                <a16:creationId xmlns:a16="http://schemas.microsoft.com/office/drawing/2014/main" id="{6FA155F6-3D82-D85D-F415-88678E1CDF4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6">
            <a:extLst>
              <a:ext uri="{FF2B5EF4-FFF2-40B4-BE49-F238E27FC236}">
                <a16:creationId xmlns:a16="http://schemas.microsoft.com/office/drawing/2014/main" id="{71DAEE23-4F2D-E82E-AD33-4A4C90729268}"/>
              </a:ext>
            </a:extLst>
          </p:cNvPr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</p:spTree>
    <p:extLst>
      <p:ext uri="{BB962C8B-B14F-4D97-AF65-F5344CB8AC3E}">
        <p14:creationId xmlns:p14="http://schemas.microsoft.com/office/powerpoint/2010/main" val="189474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869CEB90-DC4D-049B-0569-7CD8206A9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>
            <a:extLst>
              <a:ext uri="{FF2B5EF4-FFF2-40B4-BE49-F238E27FC236}">
                <a16:creationId xmlns:a16="http://schemas.microsoft.com/office/drawing/2014/main" id="{3A3E3DB3-B1A9-5F03-E92F-F832FD306F83}"/>
              </a:ext>
            </a:extLst>
          </p:cNvPr>
          <p:cNvSpPr txBox="1"/>
          <p:nvPr/>
        </p:nvSpPr>
        <p:spPr>
          <a:xfrm>
            <a:off x="654429" y="1221301"/>
            <a:ext cx="77029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600" b="1" dirty="0">
                <a:solidFill>
                  <a:srgbClr val="007367"/>
                </a:solidFill>
                <a:latin typeface="Inter" panose="02000503000000020004"/>
                <a:ea typeface="Inter" panose="02000503000000020004"/>
              </a:rPr>
              <a:t>Screenshots</a:t>
            </a:r>
            <a:endParaRPr sz="3600" b="1" dirty="0">
              <a:solidFill>
                <a:srgbClr val="007367"/>
              </a:solidFill>
              <a:latin typeface="Inter" panose="02000503000000020004"/>
              <a:ea typeface="Inter" panose="02000503000000020004"/>
              <a:sym typeface="Inter" panose="02000503000000020004"/>
            </a:endParaRPr>
          </a:p>
        </p:txBody>
      </p:sp>
      <p:sp>
        <p:nvSpPr>
          <p:cNvPr id="47" name="Google Shape;47;p2">
            <a:extLst>
              <a:ext uri="{FF2B5EF4-FFF2-40B4-BE49-F238E27FC236}">
                <a16:creationId xmlns:a16="http://schemas.microsoft.com/office/drawing/2014/main" id="{A408CA04-9BB9-D1BA-95CE-EE9659C0AA4E}"/>
              </a:ext>
            </a:extLst>
          </p:cNvPr>
          <p:cNvSpPr/>
          <p:nvPr/>
        </p:nvSpPr>
        <p:spPr>
          <a:xfrm>
            <a:off x="11344248" y="2645002"/>
            <a:ext cx="188686" cy="3004457"/>
          </a:xfrm>
          <a:prstGeom prst="rect">
            <a:avLst/>
          </a:prstGeom>
          <a:solidFill>
            <a:srgbClr val="0073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3" name="Google Shape;11;p6">
            <a:extLst>
              <a:ext uri="{FF2B5EF4-FFF2-40B4-BE49-F238E27FC236}">
                <a16:creationId xmlns:a16="http://schemas.microsoft.com/office/drawing/2014/main" id="{75276C9F-1058-67B7-2905-BA2388A9B61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6">
            <a:extLst>
              <a:ext uri="{FF2B5EF4-FFF2-40B4-BE49-F238E27FC236}">
                <a16:creationId xmlns:a16="http://schemas.microsoft.com/office/drawing/2014/main" id="{A4E05DBF-3641-68DC-CC3D-559E924851DF}"/>
              </a:ext>
            </a:extLst>
          </p:cNvPr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5DC8EB-9EA3-5441-E37B-B45631033F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510"/>
          <a:stretch>
            <a:fillRect/>
          </a:stretch>
        </p:blipFill>
        <p:spPr>
          <a:xfrm>
            <a:off x="3674987" y="1858457"/>
            <a:ext cx="4500203" cy="3778242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10801C87-91DC-647C-0B9A-26D3209E81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943" b="3038"/>
          <a:stretch>
            <a:fillRect/>
          </a:stretch>
        </p:blipFill>
        <p:spPr>
          <a:xfrm>
            <a:off x="8691824" y="924231"/>
            <a:ext cx="2313432" cy="472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718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4D548480-F1D6-FEB7-DEDD-B990C8ED1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>
            <a:extLst>
              <a:ext uri="{FF2B5EF4-FFF2-40B4-BE49-F238E27FC236}">
                <a16:creationId xmlns:a16="http://schemas.microsoft.com/office/drawing/2014/main" id="{FAF71F18-45FD-F23A-EA7C-864074D80391}"/>
              </a:ext>
            </a:extLst>
          </p:cNvPr>
          <p:cNvSpPr txBox="1"/>
          <p:nvPr/>
        </p:nvSpPr>
        <p:spPr>
          <a:xfrm>
            <a:off x="654429" y="1221301"/>
            <a:ext cx="77029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600" b="1" dirty="0">
                <a:solidFill>
                  <a:srgbClr val="007367"/>
                </a:solidFill>
                <a:latin typeface="Inter" panose="02000503000000020004"/>
                <a:ea typeface="Inter" panose="02000503000000020004"/>
              </a:rPr>
              <a:t>Conclusion</a:t>
            </a:r>
            <a:endParaRPr sz="3600" b="1" dirty="0">
              <a:solidFill>
                <a:srgbClr val="007367"/>
              </a:solidFill>
              <a:latin typeface="Inter" panose="02000503000000020004"/>
              <a:ea typeface="Inter" panose="02000503000000020004"/>
              <a:sym typeface="Inter" panose="02000503000000020004"/>
            </a:endParaRPr>
          </a:p>
        </p:txBody>
      </p:sp>
      <p:sp>
        <p:nvSpPr>
          <p:cNvPr id="46" name="Google Shape;46;p2">
            <a:extLst>
              <a:ext uri="{FF2B5EF4-FFF2-40B4-BE49-F238E27FC236}">
                <a16:creationId xmlns:a16="http://schemas.microsoft.com/office/drawing/2014/main" id="{5DE64BEC-EE21-9001-B62C-57ABAD06B345}"/>
              </a:ext>
            </a:extLst>
          </p:cNvPr>
          <p:cNvSpPr txBox="1"/>
          <p:nvPr/>
        </p:nvSpPr>
        <p:spPr>
          <a:xfrm>
            <a:off x="654428" y="2090192"/>
            <a:ext cx="1018591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The internship produced a functional ML-powered recommendation API suitable for </a:t>
            </a:r>
            <a:r>
              <a:rPr lang="en-IN" sz="2400" b="1" dirty="0" err="1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Swaralaya's</a:t>
            </a:r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 karaoke platform. Future upgrades include enhancing similarity metrics, improving dataset quality, and enabling automated data refresh.</a:t>
            </a:r>
          </a:p>
        </p:txBody>
      </p:sp>
      <p:sp>
        <p:nvSpPr>
          <p:cNvPr id="47" name="Google Shape;47;p2">
            <a:extLst>
              <a:ext uri="{FF2B5EF4-FFF2-40B4-BE49-F238E27FC236}">
                <a16:creationId xmlns:a16="http://schemas.microsoft.com/office/drawing/2014/main" id="{FC91AD74-2E15-4033-B2C5-FB86CB662EAC}"/>
              </a:ext>
            </a:extLst>
          </p:cNvPr>
          <p:cNvSpPr/>
          <p:nvPr/>
        </p:nvSpPr>
        <p:spPr>
          <a:xfrm>
            <a:off x="11344248" y="2645002"/>
            <a:ext cx="188686" cy="3004457"/>
          </a:xfrm>
          <a:prstGeom prst="rect">
            <a:avLst/>
          </a:prstGeom>
          <a:solidFill>
            <a:srgbClr val="0073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3" name="Google Shape;11;p6">
            <a:extLst>
              <a:ext uri="{FF2B5EF4-FFF2-40B4-BE49-F238E27FC236}">
                <a16:creationId xmlns:a16="http://schemas.microsoft.com/office/drawing/2014/main" id="{05199519-58F6-3D87-579C-917A43A30B4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6">
            <a:extLst>
              <a:ext uri="{FF2B5EF4-FFF2-40B4-BE49-F238E27FC236}">
                <a16:creationId xmlns:a16="http://schemas.microsoft.com/office/drawing/2014/main" id="{C0215933-F3F1-E72E-8170-0BEBAD4E5F29}"/>
              </a:ext>
            </a:extLst>
          </p:cNvPr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</p:spTree>
    <p:extLst>
      <p:ext uri="{BB962C8B-B14F-4D97-AF65-F5344CB8AC3E}">
        <p14:creationId xmlns:p14="http://schemas.microsoft.com/office/powerpoint/2010/main" val="1775071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AA22A84E-F273-572A-C0F6-AA0367B5E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>
            <a:extLst>
              <a:ext uri="{FF2B5EF4-FFF2-40B4-BE49-F238E27FC236}">
                <a16:creationId xmlns:a16="http://schemas.microsoft.com/office/drawing/2014/main" id="{45388177-A3C0-AA38-34B2-D2E7162CDF66}"/>
              </a:ext>
            </a:extLst>
          </p:cNvPr>
          <p:cNvSpPr txBox="1"/>
          <p:nvPr/>
        </p:nvSpPr>
        <p:spPr>
          <a:xfrm>
            <a:off x="654429" y="1221301"/>
            <a:ext cx="77029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600" b="1" dirty="0">
                <a:solidFill>
                  <a:srgbClr val="007367"/>
                </a:solidFill>
                <a:latin typeface="Inter" panose="02000503000000020004"/>
                <a:ea typeface="Inter" panose="02000503000000020004"/>
              </a:rPr>
              <a:t>References</a:t>
            </a:r>
            <a:endParaRPr sz="3600" b="1" dirty="0">
              <a:solidFill>
                <a:srgbClr val="007367"/>
              </a:solidFill>
              <a:latin typeface="Inter" panose="02000503000000020004"/>
              <a:ea typeface="Inter" panose="02000503000000020004"/>
              <a:sym typeface="Inter" panose="02000503000000020004"/>
            </a:endParaRPr>
          </a:p>
        </p:txBody>
      </p:sp>
      <p:sp>
        <p:nvSpPr>
          <p:cNvPr id="46" name="Google Shape;46;p2">
            <a:extLst>
              <a:ext uri="{FF2B5EF4-FFF2-40B4-BE49-F238E27FC236}">
                <a16:creationId xmlns:a16="http://schemas.microsoft.com/office/drawing/2014/main" id="{A2AC0D64-8546-22FC-903C-3A5902957D1A}"/>
              </a:ext>
            </a:extLst>
          </p:cNvPr>
          <p:cNvSpPr txBox="1"/>
          <p:nvPr/>
        </p:nvSpPr>
        <p:spPr>
          <a:xfrm>
            <a:off x="654428" y="2090192"/>
            <a:ext cx="1018591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1. </a:t>
            </a:r>
            <a:r>
              <a:rPr lang="en-IN" sz="2400" b="1" dirty="0" err="1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FastAPI</a:t>
            </a:r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 Documentation</a:t>
            </a:r>
          </a:p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2. scikit-learn Documentation</a:t>
            </a:r>
          </a:p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3. pandas Documentation</a:t>
            </a:r>
          </a:p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4. </a:t>
            </a:r>
            <a:r>
              <a:rPr lang="en-IN" sz="2400" b="1" dirty="0" err="1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Joblib</a:t>
            </a:r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 Serialization Guide</a:t>
            </a:r>
          </a:p>
          <a:p>
            <a:r>
              <a:rPr lang="en-IN" sz="2400" b="1" dirty="0">
                <a:solidFill>
                  <a:srgbClr val="A58255"/>
                </a:solidFill>
                <a:latin typeface="Inter" panose="02000503000000020004"/>
                <a:ea typeface="Inter" panose="02000503000000020004"/>
              </a:rPr>
              <a:t>5. Vectorization &amp; KNN Theory</a:t>
            </a:r>
          </a:p>
        </p:txBody>
      </p:sp>
      <p:sp>
        <p:nvSpPr>
          <p:cNvPr id="47" name="Google Shape;47;p2">
            <a:extLst>
              <a:ext uri="{FF2B5EF4-FFF2-40B4-BE49-F238E27FC236}">
                <a16:creationId xmlns:a16="http://schemas.microsoft.com/office/drawing/2014/main" id="{BA275182-8073-F7DF-2425-B64A1B251558}"/>
              </a:ext>
            </a:extLst>
          </p:cNvPr>
          <p:cNvSpPr/>
          <p:nvPr/>
        </p:nvSpPr>
        <p:spPr>
          <a:xfrm>
            <a:off x="11344248" y="2645002"/>
            <a:ext cx="188686" cy="3004457"/>
          </a:xfrm>
          <a:prstGeom prst="rect">
            <a:avLst/>
          </a:prstGeom>
          <a:solidFill>
            <a:srgbClr val="0073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3" name="Google Shape;11;p6">
            <a:extLst>
              <a:ext uri="{FF2B5EF4-FFF2-40B4-BE49-F238E27FC236}">
                <a16:creationId xmlns:a16="http://schemas.microsoft.com/office/drawing/2014/main" id="{7B9D9451-30AE-0740-AB72-7AA89975D461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6">
            <a:extLst>
              <a:ext uri="{FF2B5EF4-FFF2-40B4-BE49-F238E27FC236}">
                <a16:creationId xmlns:a16="http://schemas.microsoft.com/office/drawing/2014/main" id="{FDE3255A-F4EC-F817-E911-30D9FA3126A3}"/>
              </a:ext>
            </a:extLst>
          </p:cNvPr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</p:spTree>
    <p:extLst>
      <p:ext uri="{BB962C8B-B14F-4D97-AF65-F5344CB8AC3E}">
        <p14:creationId xmlns:p14="http://schemas.microsoft.com/office/powerpoint/2010/main" val="1084522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F1797695-DC2B-737D-5EB6-F0E49886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>
            <a:extLst>
              <a:ext uri="{FF2B5EF4-FFF2-40B4-BE49-F238E27FC236}">
                <a16:creationId xmlns:a16="http://schemas.microsoft.com/office/drawing/2014/main" id="{02D5F6A5-1521-0188-6456-E6F01EF70977}"/>
              </a:ext>
            </a:extLst>
          </p:cNvPr>
          <p:cNvSpPr txBox="1"/>
          <p:nvPr/>
        </p:nvSpPr>
        <p:spPr>
          <a:xfrm>
            <a:off x="654429" y="1221301"/>
            <a:ext cx="77029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600" b="1" dirty="0">
                <a:solidFill>
                  <a:srgbClr val="007367"/>
                </a:solidFill>
                <a:latin typeface="Inter" panose="02000503000000020004"/>
                <a:ea typeface="Inter" panose="02000503000000020004"/>
              </a:rPr>
              <a:t>Offer Letter</a:t>
            </a:r>
            <a:endParaRPr sz="3600" b="1" dirty="0">
              <a:solidFill>
                <a:srgbClr val="007367"/>
              </a:solidFill>
              <a:latin typeface="Inter" panose="02000503000000020004"/>
              <a:ea typeface="Inter" panose="02000503000000020004"/>
              <a:sym typeface="Inter" panose="02000503000000020004"/>
            </a:endParaRPr>
          </a:p>
        </p:txBody>
      </p:sp>
      <p:sp>
        <p:nvSpPr>
          <p:cNvPr id="47" name="Google Shape;47;p2">
            <a:extLst>
              <a:ext uri="{FF2B5EF4-FFF2-40B4-BE49-F238E27FC236}">
                <a16:creationId xmlns:a16="http://schemas.microsoft.com/office/drawing/2014/main" id="{0F58536E-B121-C609-42F7-D42478B6A81A}"/>
              </a:ext>
            </a:extLst>
          </p:cNvPr>
          <p:cNvSpPr/>
          <p:nvPr/>
        </p:nvSpPr>
        <p:spPr>
          <a:xfrm>
            <a:off x="11344248" y="2645002"/>
            <a:ext cx="188686" cy="3004457"/>
          </a:xfrm>
          <a:prstGeom prst="rect">
            <a:avLst/>
          </a:prstGeom>
          <a:solidFill>
            <a:srgbClr val="0073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3" name="Google Shape;11;p6">
            <a:extLst>
              <a:ext uri="{FF2B5EF4-FFF2-40B4-BE49-F238E27FC236}">
                <a16:creationId xmlns:a16="http://schemas.microsoft.com/office/drawing/2014/main" id="{3ED53330-1804-F202-A071-E2733C854E9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6">
            <a:extLst>
              <a:ext uri="{FF2B5EF4-FFF2-40B4-BE49-F238E27FC236}">
                <a16:creationId xmlns:a16="http://schemas.microsoft.com/office/drawing/2014/main" id="{9CFD52F5-7C69-07F4-32E5-64676E79C5CE}"/>
              </a:ext>
            </a:extLst>
          </p:cNvPr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A76A0-90B2-5197-0DBF-BE18DCEEFA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71" b="11828"/>
          <a:stretch>
            <a:fillRect/>
          </a:stretch>
        </p:blipFill>
        <p:spPr>
          <a:xfrm>
            <a:off x="6725327" y="596914"/>
            <a:ext cx="4618921" cy="503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82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1902ACC7-6219-1153-C60E-D7889E26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02306F-F1F4-8EB2-CD0B-7A56EDB60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639" y="596914"/>
            <a:ext cx="6516609" cy="5049696"/>
          </a:xfrm>
          <a:prstGeom prst="rect">
            <a:avLst/>
          </a:prstGeom>
        </p:spPr>
      </p:pic>
      <p:sp>
        <p:nvSpPr>
          <p:cNvPr id="45" name="Google Shape;45;p2">
            <a:extLst>
              <a:ext uri="{FF2B5EF4-FFF2-40B4-BE49-F238E27FC236}">
                <a16:creationId xmlns:a16="http://schemas.microsoft.com/office/drawing/2014/main" id="{764D62C5-04F9-BF6C-44D4-7A5798A70912}"/>
              </a:ext>
            </a:extLst>
          </p:cNvPr>
          <p:cNvSpPr txBox="1"/>
          <p:nvPr/>
        </p:nvSpPr>
        <p:spPr>
          <a:xfrm>
            <a:off x="654429" y="1221301"/>
            <a:ext cx="77029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600" b="1" dirty="0">
                <a:solidFill>
                  <a:srgbClr val="007367"/>
                </a:solidFill>
                <a:latin typeface="Inter" panose="02000503000000020004"/>
                <a:ea typeface="Inter" panose="02000503000000020004"/>
              </a:rPr>
              <a:t>Certificate</a:t>
            </a:r>
            <a:endParaRPr sz="3600" b="1" dirty="0">
              <a:solidFill>
                <a:srgbClr val="007367"/>
              </a:solidFill>
              <a:latin typeface="Inter" panose="02000503000000020004"/>
              <a:ea typeface="Inter" panose="02000503000000020004"/>
              <a:sym typeface="Inter" panose="02000503000000020004"/>
            </a:endParaRPr>
          </a:p>
        </p:txBody>
      </p:sp>
      <p:sp>
        <p:nvSpPr>
          <p:cNvPr id="47" name="Google Shape;47;p2">
            <a:extLst>
              <a:ext uri="{FF2B5EF4-FFF2-40B4-BE49-F238E27FC236}">
                <a16:creationId xmlns:a16="http://schemas.microsoft.com/office/drawing/2014/main" id="{2599FE0E-99A9-618E-F2C2-A8A73EB44553}"/>
              </a:ext>
            </a:extLst>
          </p:cNvPr>
          <p:cNvSpPr/>
          <p:nvPr/>
        </p:nvSpPr>
        <p:spPr>
          <a:xfrm>
            <a:off x="11344248" y="2645002"/>
            <a:ext cx="188686" cy="3004457"/>
          </a:xfrm>
          <a:prstGeom prst="rect">
            <a:avLst/>
          </a:prstGeom>
          <a:solidFill>
            <a:srgbClr val="0073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3" name="Google Shape;11;p6">
            <a:extLst>
              <a:ext uri="{FF2B5EF4-FFF2-40B4-BE49-F238E27FC236}">
                <a16:creationId xmlns:a16="http://schemas.microsoft.com/office/drawing/2014/main" id="{D131E2D9-28D1-A0C7-C48C-7FDDAA0A065E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6">
            <a:extLst>
              <a:ext uri="{FF2B5EF4-FFF2-40B4-BE49-F238E27FC236}">
                <a16:creationId xmlns:a16="http://schemas.microsoft.com/office/drawing/2014/main" id="{911DDB31-EA8B-A383-5743-96B0DC72F38F}"/>
              </a:ext>
            </a:extLst>
          </p:cNvPr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</p:spTree>
    <p:extLst>
      <p:ext uri="{BB962C8B-B14F-4D97-AF65-F5344CB8AC3E}">
        <p14:creationId xmlns:p14="http://schemas.microsoft.com/office/powerpoint/2010/main" val="3505726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707572" y="3001566"/>
            <a:ext cx="470625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00736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Thank You</a:t>
            </a:r>
            <a:endParaRPr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692817" y="360212"/>
            <a:ext cx="284482" cy="28448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23672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0755442" y="423468"/>
            <a:ext cx="159232" cy="157970"/>
          </a:xfrm>
          <a:custGeom>
            <a:avLst/>
            <a:gdLst/>
            <a:ahLst/>
            <a:cxnLst/>
            <a:rect l="l" t="t" r="r" b="b"/>
            <a:pathLst>
              <a:path w="444" h="443" extrusionOk="0">
                <a:moveTo>
                  <a:pt x="257" y="257"/>
                </a:moveTo>
                <a:lnTo>
                  <a:pt x="257" y="257"/>
                </a:lnTo>
                <a:cubicBezTo>
                  <a:pt x="222" y="292"/>
                  <a:pt x="177" y="327"/>
                  <a:pt x="160" y="310"/>
                </a:cubicBezTo>
                <a:cubicBezTo>
                  <a:pt x="133" y="283"/>
                  <a:pt x="115" y="265"/>
                  <a:pt x="62" y="310"/>
                </a:cubicBezTo>
                <a:cubicBezTo>
                  <a:pt x="0" y="354"/>
                  <a:pt x="44" y="389"/>
                  <a:pt x="71" y="407"/>
                </a:cubicBezTo>
                <a:cubicBezTo>
                  <a:pt x="97" y="442"/>
                  <a:pt x="204" y="416"/>
                  <a:pt x="310" y="310"/>
                </a:cubicBezTo>
                <a:cubicBezTo>
                  <a:pt x="416" y="204"/>
                  <a:pt x="443" y="97"/>
                  <a:pt x="416" y="61"/>
                </a:cubicBezTo>
                <a:cubicBezTo>
                  <a:pt x="390" y="35"/>
                  <a:pt x="363" y="0"/>
                  <a:pt x="319" y="53"/>
                </a:cubicBezTo>
                <a:cubicBezTo>
                  <a:pt x="275" y="106"/>
                  <a:pt x="293" y="123"/>
                  <a:pt x="319" y="151"/>
                </a:cubicBezTo>
                <a:cubicBezTo>
                  <a:pt x="337" y="167"/>
                  <a:pt x="302" y="212"/>
                  <a:pt x="257" y="257"/>
                </a:cubicBezTo>
              </a:path>
            </a:pathLst>
          </a:custGeom>
          <a:solidFill>
            <a:srgbClr val="017069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23672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1108103" y="360212"/>
            <a:ext cx="284482" cy="28448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23672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1173901" y="455187"/>
            <a:ext cx="152886" cy="94532"/>
          </a:xfrm>
          <a:custGeom>
            <a:avLst/>
            <a:gdLst/>
            <a:ahLst/>
            <a:cxnLst/>
            <a:rect l="l" t="t" r="r" b="b"/>
            <a:pathLst>
              <a:path w="461" h="285" extrusionOk="0">
                <a:moveTo>
                  <a:pt x="18" y="27"/>
                </a:moveTo>
                <a:lnTo>
                  <a:pt x="18" y="27"/>
                </a:lnTo>
                <a:cubicBezTo>
                  <a:pt x="35" y="35"/>
                  <a:pt x="203" y="125"/>
                  <a:pt x="203" y="125"/>
                </a:cubicBezTo>
                <a:cubicBezTo>
                  <a:pt x="212" y="133"/>
                  <a:pt x="221" y="133"/>
                  <a:pt x="231" y="133"/>
                </a:cubicBezTo>
                <a:cubicBezTo>
                  <a:pt x="239" y="133"/>
                  <a:pt x="248" y="133"/>
                  <a:pt x="248" y="125"/>
                </a:cubicBezTo>
                <a:cubicBezTo>
                  <a:pt x="256" y="125"/>
                  <a:pt x="425" y="35"/>
                  <a:pt x="434" y="27"/>
                </a:cubicBezTo>
                <a:cubicBezTo>
                  <a:pt x="452" y="18"/>
                  <a:pt x="460" y="0"/>
                  <a:pt x="443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0" y="0"/>
                  <a:pt x="9" y="18"/>
                  <a:pt x="18" y="27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434" y="80"/>
                  <a:pt x="256" y="169"/>
                  <a:pt x="248" y="178"/>
                </a:cubicBezTo>
                <a:cubicBezTo>
                  <a:pt x="248" y="178"/>
                  <a:pt x="239" y="178"/>
                  <a:pt x="231" y="178"/>
                </a:cubicBezTo>
                <a:cubicBezTo>
                  <a:pt x="221" y="178"/>
                  <a:pt x="212" y="178"/>
                  <a:pt x="203" y="178"/>
                </a:cubicBezTo>
                <a:cubicBezTo>
                  <a:pt x="194" y="169"/>
                  <a:pt x="27" y="80"/>
                  <a:pt x="18" y="80"/>
                </a:cubicBezTo>
                <a:cubicBezTo>
                  <a:pt x="9" y="72"/>
                  <a:pt x="9" y="80"/>
                  <a:pt x="9" y="80"/>
                </a:cubicBezTo>
                <a:cubicBezTo>
                  <a:pt x="9" y="88"/>
                  <a:pt x="9" y="266"/>
                  <a:pt x="9" y="266"/>
                </a:cubicBezTo>
                <a:cubicBezTo>
                  <a:pt x="9" y="275"/>
                  <a:pt x="18" y="284"/>
                  <a:pt x="35" y="284"/>
                </a:cubicBezTo>
                <a:cubicBezTo>
                  <a:pt x="425" y="284"/>
                  <a:pt x="425" y="284"/>
                  <a:pt x="425" y="284"/>
                </a:cubicBezTo>
                <a:cubicBezTo>
                  <a:pt x="443" y="284"/>
                  <a:pt x="452" y="275"/>
                  <a:pt x="452" y="266"/>
                </a:cubicBezTo>
                <a:cubicBezTo>
                  <a:pt x="452" y="266"/>
                  <a:pt x="452" y="88"/>
                  <a:pt x="452" y="80"/>
                </a:cubicBezTo>
                <a:cubicBezTo>
                  <a:pt x="452" y="80"/>
                  <a:pt x="452" y="72"/>
                  <a:pt x="443" y="80"/>
                </a:cubicBezTo>
                <a:close/>
              </a:path>
            </a:pathLst>
          </a:custGeom>
          <a:solidFill>
            <a:srgbClr val="017069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23672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1523389" y="360212"/>
            <a:ext cx="284482" cy="28448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23672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1624228" y="414630"/>
            <a:ext cx="82804" cy="175646"/>
          </a:xfrm>
          <a:custGeom>
            <a:avLst/>
            <a:gdLst/>
            <a:ahLst/>
            <a:cxnLst/>
            <a:rect l="l" t="t" r="r" b="b"/>
            <a:pathLst>
              <a:path w="232" h="498" extrusionOk="0">
                <a:moveTo>
                  <a:pt x="178" y="0"/>
                </a:moveTo>
                <a:lnTo>
                  <a:pt x="178" y="0"/>
                </a:lnTo>
                <a:cubicBezTo>
                  <a:pt x="213" y="0"/>
                  <a:pt x="222" y="27"/>
                  <a:pt x="222" y="53"/>
                </a:cubicBezTo>
                <a:cubicBezTo>
                  <a:pt x="222" y="80"/>
                  <a:pt x="196" y="115"/>
                  <a:pt x="160" y="115"/>
                </a:cubicBezTo>
                <a:cubicBezTo>
                  <a:pt x="125" y="115"/>
                  <a:pt x="107" y="97"/>
                  <a:pt x="107" y="62"/>
                </a:cubicBezTo>
                <a:cubicBezTo>
                  <a:pt x="107" y="35"/>
                  <a:pt x="134" y="0"/>
                  <a:pt x="178" y="0"/>
                </a:cubicBezTo>
                <a:close/>
                <a:moveTo>
                  <a:pt x="72" y="497"/>
                </a:moveTo>
                <a:lnTo>
                  <a:pt x="72" y="497"/>
                </a:lnTo>
                <a:cubicBezTo>
                  <a:pt x="45" y="497"/>
                  <a:pt x="28" y="478"/>
                  <a:pt x="45" y="407"/>
                </a:cubicBezTo>
                <a:cubicBezTo>
                  <a:pt x="81" y="284"/>
                  <a:pt x="81" y="284"/>
                  <a:pt x="81" y="284"/>
                </a:cubicBezTo>
                <a:cubicBezTo>
                  <a:pt x="81" y="266"/>
                  <a:pt x="81" y="257"/>
                  <a:pt x="81" y="257"/>
                </a:cubicBezTo>
                <a:cubicBezTo>
                  <a:pt x="72" y="257"/>
                  <a:pt x="37" y="275"/>
                  <a:pt x="19" y="284"/>
                </a:cubicBezTo>
                <a:cubicBezTo>
                  <a:pt x="0" y="266"/>
                  <a:pt x="0" y="266"/>
                  <a:pt x="0" y="266"/>
                </a:cubicBezTo>
                <a:cubicBezTo>
                  <a:pt x="63" y="213"/>
                  <a:pt x="143" y="178"/>
                  <a:pt x="169" y="178"/>
                </a:cubicBezTo>
                <a:cubicBezTo>
                  <a:pt x="196" y="178"/>
                  <a:pt x="205" y="213"/>
                  <a:pt x="187" y="257"/>
                </a:cubicBezTo>
                <a:cubicBezTo>
                  <a:pt x="151" y="390"/>
                  <a:pt x="151" y="390"/>
                  <a:pt x="151" y="390"/>
                </a:cubicBezTo>
                <a:cubicBezTo>
                  <a:pt x="151" y="416"/>
                  <a:pt x="151" y="425"/>
                  <a:pt x="160" y="425"/>
                </a:cubicBezTo>
                <a:cubicBezTo>
                  <a:pt x="160" y="425"/>
                  <a:pt x="187" y="407"/>
                  <a:pt x="213" y="390"/>
                </a:cubicBezTo>
                <a:cubicBezTo>
                  <a:pt x="231" y="407"/>
                  <a:pt x="231" y="407"/>
                  <a:pt x="231" y="407"/>
                </a:cubicBezTo>
                <a:cubicBezTo>
                  <a:pt x="169" y="478"/>
                  <a:pt x="98" y="497"/>
                  <a:pt x="72" y="497"/>
                </a:cubicBezTo>
                <a:close/>
              </a:path>
            </a:pathLst>
          </a:custGeom>
          <a:solidFill>
            <a:srgbClr val="017069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23672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83772" y="2945605"/>
            <a:ext cx="899884" cy="52507"/>
          </a:xfrm>
          <a:prstGeom prst="rect">
            <a:avLst/>
          </a:prstGeom>
          <a:solidFill>
            <a:srgbClr val="A582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1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;p6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 panose="020B0806030504020204"/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" panose="02000503000000020004" charset="0"/>
                <a:ea typeface="Inter" panose="02000503000000020004" charset="0"/>
                <a:cs typeface="Open Sans" panose="020B0806030504020204"/>
                <a:sym typeface="Open Sans" panose="020B0806030504020204"/>
              </a:rPr>
              <a:t>CSE, GSCSE, Visakhapatnam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7">
      <a:dk1>
        <a:srgbClr val="282828"/>
      </a:dk1>
      <a:lt1>
        <a:srgbClr val="FFFFFF"/>
      </a:lt1>
      <a:dk2>
        <a:srgbClr val="282828"/>
      </a:dk2>
      <a:lt2>
        <a:srgbClr val="FAFAFA"/>
      </a:lt2>
      <a:accent1>
        <a:srgbClr val="FFC639"/>
      </a:accent1>
      <a:accent2>
        <a:srgbClr val="F29B6B"/>
      </a:accent2>
      <a:accent3>
        <a:srgbClr val="CCD4FB"/>
      </a:accent3>
      <a:accent4>
        <a:srgbClr val="2B7158"/>
      </a:accent4>
      <a:accent5>
        <a:srgbClr val="456AB8"/>
      </a:accent5>
      <a:accent6>
        <a:srgbClr val="36383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310</Words>
  <Application>Microsoft Office PowerPoint</Application>
  <PresentationFormat>Widescreen</PresentationFormat>
  <Paragraphs>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Plus Jakarta Sans</vt:lpstr>
      <vt:lpstr>Arial</vt:lpstr>
      <vt:lpstr>Open Sans</vt:lpstr>
      <vt:lpstr>Play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GITAM</dc:creator>
  <cp:lastModifiedBy>SREEJA SISTLA</cp:lastModifiedBy>
  <cp:revision>28</cp:revision>
  <dcterms:created xsi:type="dcterms:W3CDTF">2025-11-05T06:04:43Z</dcterms:created>
  <dcterms:modified xsi:type="dcterms:W3CDTF">2025-11-16T16:47:23Z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91911742A120C729FBE80A69DE80DFD7_43</vt:lpwstr>
  </property>
  <property fmtid="{D5CDD505-2E9C-101B-9397-08002B2CF9AE}" pid="3" name="KSOProductBuildVer">
    <vt:lpwstr>1033-12.1.23143.23143</vt:lpwstr>
  </property>
</Properties>
</file>