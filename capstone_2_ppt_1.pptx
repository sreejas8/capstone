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74" r:id="rId7"/>
    <p:sldId id="261" r:id="rId8"/>
    <p:sldId id="263" r:id="rId9"/>
    <p:sldId id="275" r:id="rId10"/>
    <p:sldId id="276" r:id="rId11"/>
    <p:sldId id="277" r:id="rId12"/>
    <p:sldId id="266" r:id="rId13"/>
    <p:sldId id="278" r:id="rId14"/>
    <p:sldId id="279" r:id="rId15"/>
    <p:sldId id="271" r:id="rId16"/>
    <p:sldId id="273" r:id="rId17"/>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096005" y="600583"/>
            <a:ext cx="2951988" cy="459740"/>
          </a:xfrm>
          <a:prstGeom prst="rect">
            <a:avLst/>
          </a:prstGeom>
        </p:spPr>
        <p:txBody>
          <a:bodyPr wrap="square" lIns="0" tIns="0" rIns="0" bIns="0">
            <a:spAutoFit/>
          </a:bodyPr>
          <a:lstStyle>
            <a:lvl1pPr>
              <a:defRPr sz="2800" b="1" i="0">
                <a:solidFill>
                  <a:srgbClr val="006FC0"/>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2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6FC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2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6FC0"/>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FCEADA"/>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6804025" y="-63"/>
            <a:ext cx="2339975" cy="935037"/>
          </a:xfrm>
          <a:prstGeom prst="rect">
            <a:avLst/>
          </a:prstGeom>
        </p:spPr>
      </p:pic>
      <p:sp>
        <p:nvSpPr>
          <p:cNvPr id="2" name="Holder 2"/>
          <p:cNvSpPr>
            <a:spLocks noGrp="1"/>
          </p:cNvSpPr>
          <p:nvPr>
            <p:ph type="title"/>
          </p:nvPr>
        </p:nvSpPr>
        <p:spPr/>
        <p:txBody>
          <a:bodyPr lIns="0" tIns="0" rIns="0" bIns="0"/>
          <a:lstStyle>
            <a:lvl1pPr>
              <a:defRPr sz="2800" b="1" i="0">
                <a:solidFill>
                  <a:srgbClr val="006FC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FCEADA"/>
          </a:solidFill>
        </p:spPr>
        <p:txBody>
          <a:bodyPr wrap="square" lIns="0" tIns="0" rIns="0" bIns="0" rtlCol="0"/>
          <a:lstStyle/>
          <a:p>
            <a:endParaRPr/>
          </a:p>
        </p:txBody>
      </p:sp>
      <p:sp>
        <p:nvSpPr>
          <p:cNvPr id="2" name="Holder 2"/>
          <p:cNvSpPr>
            <a:spLocks noGrp="1"/>
          </p:cNvSpPr>
          <p:nvPr>
            <p:ph type="title"/>
          </p:nvPr>
        </p:nvSpPr>
        <p:spPr>
          <a:xfrm>
            <a:off x="329590" y="292353"/>
            <a:ext cx="8484819" cy="882904"/>
          </a:xfrm>
          <a:prstGeom prst="rect">
            <a:avLst/>
          </a:prstGeom>
        </p:spPr>
        <p:txBody>
          <a:bodyPr wrap="square" lIns="0" tIns="0" rIns="0" bIns="0">
            <a:spAutoFit/>
          </a:bodyPr>
          <a:lstStyle>
            <a:lvl1pPr>
              <a:defRPr sz="2800" b="1" i="0">
                <a:solidFill>
                  <a:srgbClr val="006FC0"/>
                </a:solidFill>
                <a:latin typeface="Times New Roman"/>
                <a:cs typeface="Times New Roman"/>
              </a:defRPr>
            </a:lvl1pPr>
          </a:lstStyle>
          <a:p>
            <a:endParaRPr/>
          </a:p>
        </p:txBody>
      </p:sp>
      <p:sp>
        <p:nvSpPr>
          <p:cNvPr id="3" name="Holder 3"/>
          <p:cNvSpPr>
            <a:spLocks noGrp="1"/>
          </p:cNvSpPr>
          <p:nvPr>
            <p:ph type="body" idx="1"/>
          </p:nvPr>
        </p:nvSpPr>
        <p:spPr>
          <a:xfrm>
            <a:off x="329590" y="1281811"/>
            <a:ext cx="8426450" cy="4360544"/>
          </a:xfrm>
          <a:prstGeom prst="rect">
            <a:avLst/>
          </a:prstGeom>
        </p:spPr>
        <p:txBody>
          <a:bodyPr wrap="square" lIns="0" tIns="0" rIns="0" bIns="0">
            <a:spAutoFit/>
          </a:bodyPr>
          <a:lstStyle>
            <a:lvl1pPr>
              <a:defRPr sz="22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6" name="Holder 6"/>
          <p:cNvSpPr>
            <a:spLocks noGrp="1"/>
          </p:cNvSpPr>
          <p:nvPr>
            <p:ph type="sldNum" sz="quarter" idx="7"/>
          </p:nvPr>
        </p:nvSpPr>
        <p:spPr>
          <a:xfrm>
            <a:off x="8426957" y="6464680"/>
            <a:ext cx="219075"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06523" y="757241"/>
            <a:ext cx="419925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Capstone</a:t>
            </a:r>
            <a:r>
              <a:rPr sz="2000" spc="-50" dirty="0">
                <a:latin typeface="Times New Roman"/>
                <a:cs typeface="Times New Roman"/>
              </a:rPr>
              <a:t> </a:t>
            </a:r>
            <a:r>
              <a:rPr sz="2000" dirty="0">
                <a:latin typeface="Times New Roman"/>
                <a:cs typeface="Times New Roman"/>
              </a:rPr>
              <a:t>Project</a:t>
            </a:r>
            <a:r>
              <a:rPr sz="2000" spc="-35" dirty="0">
                <a:latin typeface="Times New Roman"/>
                <a:cs typeface="Times New Roman"/>
              </a:rPr>
              <a:t> </a:t>
            </a:r>
            <a:r>
              <a:rPr sz="2000" dirty="0">
                <a:latin typeface="Times New Roman"/>
                <a:cs typeface="Times New Roman"/>
              </a:rPr>
              <a:t>–</a:t>
            </a:r>
            <a:r>
              <a:rPr sz="2000" spc="-10" dirty="0">
                <a:latin typeface="Times New Roman"/>
                <a:cs typeface="Times New Roman"/>
              </a:rPr>
              <a:t> </a:t>
            </a:r>
            <a:r>
              <a:rPr sz="2000" dirty="0">
                <a:latin typeface="Times New Roman"/>
                <a:cs typeface="Times New Roman"/>
              </a:rPr>
              <a:t>Final:</a:t>
            </a:r>
            <a:r>
              <a:rPr sz="2000" spc="465" dirty="0">
                <a:latin typeface="Times New Roman"/>
                <a:cs typeface="Times New Roman"/>
              </a:rPr>
              <a:t> </a:t>
            </a:r>
            <a:r>
              <a:rPr sz="2000" dirty="0">
                <a:latin typeface="Times New Roman"/>
                <a:cs typeface="Times New Roman"/>
              </a:rPr>
              <a:t>Review</a:t>
            </a:r>
            <a:r>
              <a:rPr sz="2000" spc="-10" dirty="0">
                <a:latin typeface="Times New Roman"/>
                <a:cs typeface="Times New Roman"/>
              </a:rPr>
              <a:t> </a:t>
            </a:r>
            <a:r>
              <a:rPr sz="2000" dirty="0">
                <a:latin typeface="Times New Roman"/>
                <a:cs typeface="Times New Roman"/>
              </a:rPr>
              <a:t>–</a:t>
            </a:r>
            <a:r>
              <a:rPr sz="2000" spc="-10" dirty="0">
                <a:latin typeface="Times New Roman"/>
                <a:cs typeface="Times New Roman"/>
              </a:rPr>
              <a:t> </a:t>
            </a:r>
            <a:r>
              <a:rPr sz="2000" dirty="0">
                <a:latin typeface="Times New Roman"/>
                <a:cs typeface="Times New Roman"/>
              </a:rPr>
              <a:t>1 </a:t>
            </a:r>
            <a:r>
              <a:rPr sz="2000" spc="-25" dirty="0">
                <a:latin typeface="Times New Roman"/>
                <a:cs typeface="Times New Roman"/>
              </a:rPr>
              <a:t>on</a:t>
            </a:r>
            <a:endParaRPr sz="2000" dirty="0">
              <a:latin typeface="Times New Roman"/>
              <a:cs typeface="Times New Roman"/>
            </a:endParaRPr>
          </a:p>
        </p:txBody>
      </p:sp>
      <p:sp>
        <p:nvSpPr>
          <p:cNvPr id="3" name="object 3"/>
          <p:cNvSpPr txBox="1">
            <a:spLocks noGrp="1"/>
          </p:cNvSpPr>
          <p:nvPr>
            <p:ph type="title"/>
          </p:nvPr>
        </p:nvSpPr>
        <p:spPr>
          <a:xfrm>
            <a:off x="533400" y="1188306"/>
            <a:ext cx="7620000" cy="875240"/>
          </a:xfrm>
          <a:prstGeom prst="rect">
            <a:avLst/>
          </a:prstGeom>
        </p:spPr>
        <p:txBody>
          <a:bodyPr vert="horz" wrap="square" lIns="0" tIns="13335" rIns="0" bIns="0" rtlCol="0">
            <a:spAutoFit/>
          </a:bodyPr>
          <a:lstStyle/>
          <a:p>
            <a:pPr marL="12700" algn="ctr">
              <a:lnSpc>
                <a:spcPct val="100000"/>
              </a:lnSpc>
              <a:spcBef>
                <a:spcPts val="105"/>
              </a:spcBef>
            </a:pPr>
            <a:r>
              <a:rPr lang="en-US" dirty="0"/>
              <a:t>A Semi- Supervised Active Learning Neural Network for Data Streams With Concept Drift</a:t>
            </a:r>
            <a:endParaRPr dirty="0"/>
          </a:p>
        </p:txBody>
      </p:sp>
      <p:sp>
        <p:nvSpPr>
          <p:cNvPr id="4" name="object 4"/>
          <p:cNvSpPr txBox="1"/>
          <p:nvPr/>
        </p:nvSpPr>
        <p:spPr>
          <a:xfrm>
            <a:off x="2406523" y="2444953"/>
            <a:ext cx="3729354" cy="331470"/>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C00000"/>
                </a:solidFill>
                <a:latin typeface="Times New Roman"/>
                <a:cs typeface="Times New Roman"/>
              </a:rPr>
              <a:t>Presented</a:t>
            </a:r>
            <a:r>
              <a:rPr sz="2000" b="1" spc="-35" dirty="0">
                <a:solidFill>
                  <a:srgbClr val="C00000"/>
                </a:solidFill>
                <a:latin typeface="Times New Roman"/>
                <a:cs typeface="Times New Roman"/>
              </a:rPr>
              <a:t> </a:t>
            </a:r>
            <a:r>
              <a:rPr sz="2000" b="1" dirty="0">
                <a:solidFill>
                  <a:srgbClr val="C00000"/>
                </a:solidFill>
                <a:latin typeface="Times New Roman"/>
                <a:cs typeface="Times New Roman"/>
              </a:rPr>
              <a:t>by</a:t>
            </a:r>
            <a:r>
              <a:rPr sz="2000" b="1" spc="-25" dirty="0">
                <a:solidFill>
                  <a:srgbClr val="C00000"/>
                </a:solidFill>
                <a:latin typeface="Times New Roman"/>
                <a:cs typeface="Times New Roman"/>
              </a:rPr>
              <a:t> </a:t>
            </a:r>
            <a:r>
              <a:rPr sz="2000" b="1" dirty="0">
                <a:solidFill>
                  <a:srgbClr val="C00000"/>
                </a:solidFill>
                <a:latin typeface="Times New Roman"/>
                <a:cs typeface="Times New Roman"/>
              </a:rPr>
              <a:t>the</a:t>
            </a:r>
            <a:r>
              <a:rPr sz="2000" b="1" spc="-20" dirty="0">
                <a:solidFill>
                  <a:srgbClr val="C00000"/>
                </a:solidFill>
                <a:latin typeface="Times New Roman"/>
                <a:cs typeface="Times New Roman"/>
              </a:rPr>
              <a:t> </a:t>
            </a:r>
            <a:r>
              <a:rPr sz="2000" b="1" dirty="0">
                <a:solidFill>
                  <a:srgbClr val="C00000"/>
                </a:solidFill>
                <a:latin typeface="Times New Roman"/>
                <a:cs typeface="Times New Roman"/>
              </a:rPr>
              <a:t>Batch</a:t>
            </a:r>
            <a:r>
              <a:rPr sz="2000" b="1" spc="-40" dirty="0">
                <a:solidFill>
                  <a:srgbClr val="C00000"/>
                </a:solidFill>
                <a:latin typeface="Times New Roman"/>
                <a:cs typeface="Times New Roman"/>
              </a:rPr>
              <a:t> </a:t>
            </a:r>
            <a:r>
              <a:rPr sz="2000" b="1" dirty="0">
                <a:solidFill>
                  <a:srgbClr val="C00000"/>
                </a:solidFill>
                <a:latin typeface="Times New Roman"/>
                <a:cs typeface="Times New Roman"/>
              </a:rPr>
              <a:t>No.</a:t>
            </a:r>
            <a:r>
              <a:rPr sz="2000" b="1" spc="-20" dirty="0">
                <a:solidFill>
                  <a:srgbClr val="C00000"/>
                </a:solidFill>
                <a:latin typeface="Times New Roman"/>
                <a:cs typeface="Times New Roman"/>
              </a:rPr>
              <a:t> </a:t>
            </a:r>
            <a:r>
              <a:rPr sz="2000" b="1" dirty="0">
                <a:solidFill>
                  <a:srgbClr val="C00000"/>
                </a:solidFill>
                <a:latin typeface="Times New Roman"/>
                <a:cs typeface="Times New Roman"/>
              </a:rPr>
              <a:t>:</a:t>
            </a:r>
            <a:r>
              <a:rPr sz="2000" b="1" spc="-10" dirty="0">
                <a:solidFill>
                  <a:srgbClr val="C00000"/>
                </a:solidFill>
                <a:latin typeface="Times New Roman"/>
                <a:cs typeface="Times New Roman"/>
              </a:rPr>
              <a:t> </a:t>
            </a:r>
            <a:r>
              <a:rPr lang="en-IN" sz="2000" b="1" spc="-25" dirty="0">
                <a:solidFill>
                  <a:srgbClr val="C00000"/>
                </a:solidFill>
                <a:latin typeface="Times New Roman"/>
                <a:cs typeface="Times New Roman"/>
              </a:rPr>
              <a:t>3</a:t>
            </a:r>
            <a:endParaRPr sz="2000" dirty="0">
              <a:latin typeface="Times New Roman"/>
              <a:cs typeface="Times New Roman"/>
            </a:endParaRPr>
          </a:p>
        </p:txBody>
      </p:sp>
      <p:sp>
        <p:nvSpPr>
          <p:cNvPr id="5" name="object 5"/>
          <p:cNvSpPr txBox="1"/>
          <p:nvPr/>
        </p:nvSpPr>
        <p:spPr>
          <a:xfrm>
            <a:off x="838200" y="2911855"/>
            <a:ext cx="2552065" cy="1159292"/>
          </a:xfrm>
          <a:prstGeom prst="rect">
            <a:avLst/>
          </a:prstGeom>
        </p:spPr>
        <p:txBody>
          <a:bodyPr vert="horz" wrap="square" lIns="0" tIns="12700" rIns="0" bIns="0" rtlCol="0">
            <a:spAutoFit/>
          </a:bodyPr>
          <a:lstStyle/>
          <a:p>
            <a:pPr marL="12700" marR="5080" algn="just">
              <a:lnSpc>
                <a:spcPct val="100000"/>
              </a:lnSpc>
              <a:spcBef>
                <a:spcPts val="100"/>
              </a:spcBef>
            </a:pPr>
            <a:r>
              <a:rPr lang="en-IN" b="1" spc="-20" dirty="0">
                <a:latin typeface="Times New Roman"/>
                <a:cs typeface="Times New Roman"/>
              </a:rPr>
              <a:t>Sreeja Sistla</a:t>
            </a:r>
            <a:r>
              <a:rPr sz="1800" b="1" spc="-20" dirty="0">
                <a:latin typeface="Times New Roman"/>
                <a:cs typeface="Times New Roman"/>
              </a:rPr>
              <a:t> </a:t>
            </a:r>
            <a:endParaRPr lang="en-IN" sz="1800" b="1" spc="-20" dirty="0">
              <a:latin typeface="Times New Roman"/>
              <a:cs typeface="Times New Roman"/>
            </a:endParaRPr>
          </a:p>
          <a:p>
            <a:pPr marL="12700" marR="5080" algn="just">
              <a:lnSpc>
                <a:spcPct val="100000"/>
              </a:lnSpc>
              <a:spcBef>
                <a:spcPts val="100"/>
              </a:spcBef>
            </a:pPr>
            <a:r>
              <a:rPr lang="en-IN" b="1" spc="-20" dirty="0">
                <a:latin typeface="Times New Roman"/>
                <a:cs typeface="Times New Roman"/>
              </a:rPr>
              <a:t>Sanjana Sripati</a:t>
            </a:r>
          </a:p>
          <a:p>
            <a:pPr marL="12700" marR="5080" algn="just">
              <a:lnSpc>
                <a:spcPct val="100000"/>
              </a:lnSpc>
              <a:spcBef>
                <a:spcPts val="100"/>
              </a:spcBef>
            </a:pPr>
            <a:r>
              <a:rPr lang="en-US" altLang="en-US" sz="1800" b="1" dirty="0">
                <a:solidFill>
                  <a:prstClr val="black"/>
                </a:solidFill>
                <a:latin typeface="Times New Roman" pitchFamily="18" charset="0"/>
                <a:cs typeface="Times New Roman" pitchFamily="18" charset="0"/>
              </a:rPr>
              <a:t>K. Lakshmi Nikhita </a:t>
            </a:r>
          </a:p>
          <a:p>
            <a:pPr marL="12700" marR="5080" algn="just">
              <a:lnSpc>
                <a:spcPct val="100000"/>
              </a:lnSpc>
              <a:spcBef>
                <a:spcPts val="100"/>
              </a:spcBef>
            </a:pPr>
            <a:r>
              <a:rPr lang="it-IT" altLang="en-US" sz="1800" b="1" dirty="0">
                <a:solidFill>
                  <a:prstClr val="black"/>
                </a:solidFill>
                <a:latin typeface="Times New Roman" pitchFamily="18" charset="0"/>
                <a:cs typeface="Times New Roman" pitchFamily="18" charset="0"/>
              </a:rPr>
              <a:t>Arun Kumar Remella</a:t>
            </a:r>
            <a:r>
              <a:rPr lang="en-US" altLang="en-US" sz="1800" b="1" dirty="0">
                <a:solidFill>
                  <a:prstClr val="black"/>
                </a:solidFill>
                <a:latin typeface="Times New Roman" pitchFamily="18" charset="0"/>
                <a:cs typeface="Times New Roman" pitchFamily="18" charset="0"/>
              </a:rPr>
              <a:t> </a:t>
            </a:r>
            <a:endParaRPr lang="en-IN" b="1" spc="-20" dirty="0">
              <a:latin typeface="Times New Roman"/>
              <a:cs typeface="Times New Roman"/>
            </a:endParaRPr>
          </a:p>
        </p:txBody>
      </p:sp>
      <p:sp>
        <p:nvSpPr>
          <p:cNvPr id="6" name="object 6"/>
          <p:cNvSpPr txBox="1"/>
          <p:nvPr/>
        </p:nvSpPr>
        <p:spPr>
          <a:xfrm>
            <a:off x="5189795" y="2911855"/>
            <a:ext cx="2552065" cy="1159292"/>
          </a:xfrm>
          <a:prstGeom prst="rect">
            <a:avLst/>
          </a:prstGeom>
        </p:spPr>
        <p:txBody>
          <a:bodyPr vert="horz" wrap="square" lIns="0" tIns="12700" rIns="0" bIns="0" rtlCol="0">
            <a:spAutoFit/>
          </a:bodyPr>
          <a:lstStyle/>
          <a:p>
            <a:pPr marL="12700" marR="5080" algn="just">
              <a:lnSpc>
                <a:spcPct val="100000"/>
              </a:lnSpc>
              <a:spcBef>
                <a:spcPts val="100"/>
              </a:spcBef>
            </a:pPr>
            <a:r>
              <a:rPr lang="en-US" altLang="en-US" sz="1800" b="1" dirty="0">
                <a:solidFill>
                  <a:prstClr val="black"/>
                </a:solidFill>
                <a:latin typeface="Times New Roman" pitchFamily="18" charset="0"/>
                <a:cs typeface="Times New Roman" pitchFamily="18" charset="0"/>
              </a:rPr>
              <a:t>VU22CSEN0100301(TL)</a:t>
            </a:r>
          </a:p>
          <a:p>
            <a:pPr marL="12700" marR="5080" algn="just">
              <a:lnSpc>
                <a:spcPct val="100000"/>
              </a:lnSpc>
              <a:spcBef>
                <a:spcPts val="100"/>
              </a:spcBef>
            </a:pPr>
            <a:r>
              <a:rPr lang="en-US" altLang="en-US" sz="1800" b="1" dirty="0">
                <a:solidFill>
                  <a:prstClr val="black"/>
                </a:solidFill>
                <a:latin typeface="Times New Roman" pitchFamily="18" charset="0"/>
                <a:cs typeface="Times New Roman" pitchFamily="18" charset="0"/>
              </a:rPr>
              <a:t>VU22CSEN0100563</a:t>
            </a:r>
          </a:p>
          <a:p>
            <a:pPr marL="12700" marR="5080" algn="just">
              <a:lnSpc>
                <a:spcPct val="100000"/>
              </a:lnSpc>
              <a:spcBef>
                <a:spcPts val="100"/>
              </a:spcBef>
            </a:pPr>
            <a:r>
              <a:rPr lang="en-US" altLang="en-US" sz="1800" b="1" dirty="0">
                <a:solidFill>
                  <a:prstClr val="black"/>
                </a:solidFill>
                <a:latin typeface="Times New Roman" pitchFamily="18" charset="0"/>
                <a:cs typeface="Times New Roman" pitchFamily="18" charset="0"/>
              </a:rPr>
              <a:t>VU22CSEN0100440</a:t>
            </a:r>
          </a:p>
          <a:p>
            <a:pPr marL="12700" marR="5080" algn="just">
              <a:lnSpc>
                <a:spcPct val="100000"/>
              </a:lnSpc>
              <a:spcBef>
                <a:spcPts val="100"/>
              </a:spcBef>
            </a:pPr>
            <a:r>
              <a:rPr lang="en-US" altLang="en-US" sz="1800" b="1" dirty="0">
                <a:solidFill>
                  <a:prstClr val="black"/>
                </a:solidFill>
                <a:latin typeface="Times New Roman" pitchFamily="18" charset="0"/>
                <a:cs typeface="Times New Roman" pitchFamily="18" charset="0"/>
              </a:rPr>
              <a:t>VU22CSEN0102106</a:t>
            </a:r>
            <a:endParaRPr sz="1800" dirty="0">
              <a:latin typeface="Times New Roman"/>
              <a:cs typeface="Times New Roman"/>
            </a:endParaRPr>
          </a:p>
        </p:txBody>
      </p:sp>
      <p:sp>
        <p:nvSpPr>
          <p:cNvPr id="7" name="object 7"/>
          <p:cNvSpPr txBox="1"/>
          <p:nvPr/>
        </p:nvSpPr>
        <p:spPr>
          <a:xfrm>
            <a:off x="1582674" y="4473041"/>
            <a:ext cx="6194425" cy="2249334"/>
          </a:xfrm>
          <a:prstGeom prst="rect">
            <a:avLst/>
          </a:prstGeom>
        </p:spPr>
        <p:txBody>
          <a:bodyPr vert="horz" wrap="square" lIns="0" tIns="12700" rIns="0" bIns="0" rtlCol="0">
            <a:spAutoFit/>
          </a:bodyPr>
          <a:lstStyle/>
          <a:p>
            <a:pPr marL="1644650" marR="2071370" algn="ctr">
              <a:lnSpc>
                <a:spcPct val="120000"/>
              </a:lnSpc>
              <a:spcBef>
                <a:spcPts val="100"/>
              </a:spcBef>
            </a:pPr>
            <a:r>
              <a:rPr sz="2000" b="1" dirty="0">
                <a:solidFill>
                  <a:srgbClr val="006FC0"/>
                </a:solidFill>
                <a:latin typeface="Times New Roman"/>
                <a:cs typeface="Times New Roman"/>
              </a:rPr>
              <a:t>Under</a:t>
            </a:r>
            <a:r>
              <a:rPr sz="2000" b="1" spc="-65" dirty="0">
                <a:solidFill>
                  <a:srgbClr val="006FC0"/>
                </a:solidFill>
                <a:latin typeface="Times New Roman"/>
                <a:cs typeface="Times New Roman"/>
              </a:rPr>
              <a:t> </a:t>
            </a:r>
            <a:r>
              <a:rPr sz="2000" b="1" dirty="0">
                <a:solidFill>
                  <a:srgbClr val="006FC0"/>
                </a:solidFill>
                <a:latin typeface="Times New Roman"/>
                <a:cs typeface="Times New Roman"/>
              </a:rPr>
              <a:t>the</a:t>
            </a:r>
            <a:r>
              <a:rPr sz="2000" b="1" spc="-45" dirty="0">
                <a:solidFill>
                  <a:srgbClr val="006FC0"/>
                </a:solidFill>
                <a:latin typeface="Times New Roman"/>
                <a:cs typeface="Times New Roman"/>
              </a:rPr>
              <a:t> </a:t>
            </a:r>
            <a:r>
              <a:rPr sz="2000" b="1" dirty="0">
                <a:solidFill>
                  <a:srgbClr val="006FC0"/>
                </a:solidFill>
                <a:latin typeface="Times New Roman"/>
                <a:cs typeface="Times New Roman"/>
              </a:rPr>
              <a:t>Guidance</a:t>
            </a:r>
            <a:r>
              <a:rPr sz="2000" b="1" spc="-55" dirty="0">
                <a:solidFill>
                  <a:srgbClr val="006FC0"/>
                </a:solidFill>
                <a:latin typeface="Times New Roman"/>
                <a:cs typeface="Times New Roman"/>
              </a:rPr>
              <a:t> </a:t>
            </a:r>
            <a:r>
              <a:rPr sz="2000" b="1" spc="-25" dirty="0">
                <a:solidFill>
                  <a:srgbClr val="006FC0"/>
                </a:solidFill>
                <a:latin typeface="Times New Roman"/>
                <a:cs typeface="Times New Roman"/>
              </a:rPr>
              <a:t>of </a:t>
            </a:r>
            <a:r>
              <a:rPr lang="en-US" altLang="en-US" sz="2000" b="1" dirty="0">
                <a:latin typeface="Times New Roman" pitchFamily="18" charset="0"/>
                <a:cs typeface="Times New Roman" pitchFamily="18" charset="0"/>
              </a:rPr>
              <a:t>Suneetha </a:t>
            </a:r>
            <a:r>
              <a:rPr lang="en-US" altLang="en-US" sz="2000" b="1" dirty="0" err="1">
                <a:latin typeface="Times New Roman" pitchFamily="18" charset="0"/>
                <a:cs typeface="Times New Roman" pitchFamily="18" charset="0"/>
              </a:rPr>
              <a:t>Dwarapu</a:t>
            </a:r>
            <a:endParaRPr lang="en-US" altLang="en-US" sz="2000" b="1" dirty="0">
              <a:latin typeface="Times New Roman" pitchFamily="18" charset="0"/>
              <a:cs typeface="Times New Roman" pitchFamily="18" charset="0"/>
            </a:endParaRPr>
          </a:p>
          <a:p>
            <a:pPr marL="1644650" marR="2071370" algn="ctr">
              <a:lnSpc>
                <a:spcPct val="120000"/>
              </a:lnSpc>
              <a:spcBef>
                <a:spcPts val="100"/>
              </a:spcBef>
            </a:pPr>
            <a:r>
              <a:rPr lang="en-US" altLang="en-US" sz="2000" b="1" dirty="0">
                <a:solidFill>
                  <a:schemeClr val="tx1">
                    <a:lumMod val="95000"/>
                    <a:lumOff val="5000"/>
                  </a:schemeClr>
                </a:solidFill>
                <a:latin typeface="Times New Roman" panose="02020603050405020304" pitchFamily="18" charset="0"/>
                <a:cs typeface="Times New Roman" panose="02020603050405020304" pitchFamily="18" charset="0"/>
              </a:rPr>
              <a:t>Assistant Professor</a:t>
            </a:r>
            <a:endParaRPr lang="en-US" altLang="en-US" sz="2000" dirty="0">
              <a:latin typeface="Times New Roman" pitchFamily="18" charset="0"/>
              <a:cs typeface="Times New Roman" pitchFamily="18" charset="0"/>
            </a:endParaRPr>
          </a:p>
          <a:p>
            <a:pPr marL="12700" marR="5080" algn="ctr">
              <a:lnSpc>
                <a:spcPct val="100000"/>
              </a:lnSpc>
              <a:spcBef>
                <a:spcPts val="1475"/>
              </a:spcBef>
            </a:pPr>
            <a:r>
              <a:rPr sz="2000" b="1" dirty="0">
                <a:solidFill>
                  <a:srgbClr val="000099"/>
                </a:solidFill>
                <a:latin typeface="Times New Roman"/>
                <a:cs typeface="Times New Roman"/>
              </a:rPr>
              <a:t>Department</a:t>
            </a:r>
            <a:r>
              <a:rPr sz="2000" b="1" spc="-45" dirty="0">
                <a:solidFill>
                  <a:srgbClr val="000099"/>
                </a:solidFill>
                <a:latin typeface="Times New Roman"/>
                <a:cs typeface="Times New Roman"/>
              </a:rPr>
              <a:t> </a:t>
            </a:r>
            <a:r>
              <a:rPr sz="2000" b="1" dirty="0">
                <a:solidFill>
                  <a:srgbClr val="000099"/>
                </a:solidFill>
                <a:latin typeface="Times New Roman"/>
                <a:cs typeface="Times New Roman"/>
              </a:rPr>
              <a:t>of</a:t>
            </a:r>
            <a:r>
              <a:rPr sz="2000" b="1" spc="-20" dirty="0">
                <a:solidFill>
                  <a:srgbClr val="000099"/>
                </a:solidFill>
                <a:latin typeface="Times New Roman"/>
                <a:cs typeface="Times New Roman"/>
              </a:rPr>
              <a:t> </a:t>
            </a:r>
            <a:r>
              <a:rPr sz="2000" b="1" dirty="0">
                <a:solidFill>
                  <a:srgbClr val="000099"/>
                </a:solidFill>
                <a:latin typeface="Times New Roman"/>
                <a:cs typeface="Times New Roman"/>
              </a:rPr>
              <a:t>Computer</a:t>
            </a:r>
            <a:r>
              <a:rPr sz="2000" b="1" spc="-75" dirty="0">
                <a:solidFill>
                  <a:srgbClr val="000099"/>
                </a:solidFill>
                <a:latin typeface="Times New Roman"/>
                <a:cs typeface="Times New Roman"/>
              </a:rPr>
              <a:t> </a:t>
            </a:r>
            <a:r>
              <a:rPr sz="2000" b="1" dirty="0">
                <a:solidFill>
                  <a:srgbClr val="000099"/>
                </a:solidFill>
                <a:latin typeface="Times New Roman"/>
                <a:cs typeface="Times New Roman"/>
              </a:rPr>
              <a:t>Science</a:t>
            </a:r>
            <a:r>
              <a:rPr sz="2000" b="1" spc="-15" dirty="0">
                <a:solidFill>
                  <a:srgbClr val="000099"/>
                </a:solidFill>
                <a:latin typeface="Times New Roman"/>
                <a:cs typeface="Times New Roman"/>
              </a:rPr>
              <a:t> </a:t>
            </a:r>
            <a:r>
              <a:rPr sz="2000" b="1" dirty="0">
                <a:solidFill>
                  <a:srgbClr val="000099"/>
                </a:solidFill>
                <a:latin typeface="Times New Roman"/>
                <a:cs typeface="Times New Roman"/>
              </a:rPr>
              <a:t>and</a:t>
            </a:r>
            <a:r>
              <a:rPr sz="2000" b="1" spc="-20" dirty="0">
                <a:solidFill>
                  <a:srgbClr val="000099"/>
                </a:solidFill>
                <a:latin typeface="Times New Roman"/>
                <a:cs typeface="Times New Roman"/>
              </a:rPr>
              <a:t> </a:t>
            </a:r>
            <a:r>
              <a:rPr sz="2000" b="1" spc="-10" dirty="0">
                <a:solidFill>
                  <a:srgbClr val="000099"/>
                </a:solidFill>
                <a:latin typeface="Times New Roman"/>
                <a:cs typeface="Times New Roman"/>
              </a:rPr>
              <a:t>Engineering </a:t>
            </a:r>
            <a:r>
              <a:rPr sz="2000" spc="-20" dirty="0">
                <a:latin typeface="Times New Roman"/>
                <a:cs typeface="Times New Roman"/>
              </a:rPr>
              <a:t>GITAM</a:t>
            </a:r>
            <a:r>
              <a:rPr sz="2000" spc="-50" dirty="0">
                <a:latin typeface="Times New Roman"/>
                <a:cs typeface="Times New Roman"/>
              </a:rPr>
              <a:t> </a:t>
            </a:r>
            <a:r>
              <a:rPr sz="2000" dirty="0">
                <a:latin typeface="Times New Roman"/>
                <a:cs typeface="Times New Roman"/>
              </a:rPr>
              <a:t>School</a:t>
            </a:r>
            <a:r>
              <a:rPr sz="2000" spc="-55" dirty="0">
                <a:latin typeface="Times New Roman"/>
                <a:cs typeface="Times New Roman"/>
              </a:rPr>
              <a:t> </a:t>
            </a:r>
            <a:r>
              <a:rPr sz="2000" dirty="0">
                <a:latin typeface="Times New Roman"/>
                <a:cs typeface="Times New Roman"/>
              </a:rPr>
              <a:t>of</a:t>
            </a:r>
            <a:r>
              <a:rPr sz="2000" spc="-30" dirty="0">
                <a:latin typeface="Times New Roman"/>
                <a:cs typeface="Times New Roman"/>
              </a:rPr>
              <a:t> </a:t>
            </a:r>
            <a:r>
              <a:rPr sz="2000" dirty="0">
                <a:latin typeface="Times New Roman"/>
                <a:cs typeface="Times New Roman"/>
              </a:rPr>
              <a:t>CSE,</a:t>
            </a:r>
            <a:r>
              <a:rPr sz="2000" spc="-35" dirty="0">
                <a:latin typeface="Times New Roman"/>
                <a:cs typeface="Times New Roman"/>
              </a:rPr>
              <a:t> </a:t>
            </a:r>
            <a:r>
              <a:rPr sz="2000" spc="-20" dirty="0">
                <a:latin typeface="Times New Roman"/>
                <a:cs typeface="Times New Roman"/>
              </a:rPr>
              <a:t>GITAM</a:t>
            </a:r>
            <a:r>
              <a:rPr sz="2000" spc="-45" dirty="0">
                <a:latin typeface="Times New Roman"/>
                <a:cs typeface="Times New Roman"/>
              </a:rPr>
              <a:t> </a:t>
            </a:r>
            <a:r>
              <a:rPr sz="2000" dirty="0">
                <a:latin typeface="Times New Roman"/>
                <a:cs typeface="Times New Roman"/>
              </a:rPr>
              <a:t>(Deemed</a:t>
            </a:r>
            <a:r>
              <a:rPr sz="2000" spc="-35" dirty="0">
                <a:latin typeface="Times New Roman"/>
                <a:cs typeface="Times New Roman"/>
              </a:rPr>
              <a:t> </a:t>
            </a:r>
            <a:r>
              <a:rPr sz="2000" dirty="0">
                <a:latin typeface="Times New Roman"/>
                <a:cs typeface="Times New Roman"/>
              </a:rPr>
              <a:t>to</a:t>
            </a:r>
            <a:r>
              <a:rPr sz="2000" spc="-35" dirty="0">
                <a:latin typeface="Times New Roman"/>
                <a:cs typeface="Times New Roman"/>
              </a:rPr>
              <a:t> </a:t>
            </a:r>
            <a:r>
              <a:rPr sz="2000" dirty="0">
                <a:latin typeface="Times New Roman"/>
                <a:cs typeface="Times New Roman"/>
              </a:rPr>
              <a:t>be</a:t>
            </a:r>
            <a:r>
              <a:rPr sz="2000" spc="-30" dirty="0">
                <a:latin typeface="Times New Roman"/>
                <a:cs typeface="Times New Roman"/>
              </a:rPr>
              <a:t> </a:t>
            </a:r>
            <a:r>
              <a:rPr sz="2000" spc="-10" dirty="0">
                <a:latin typeface="Times New Roman"/>
                <a:cs typeface="Times New Roman"/>
              </a:rPr>
              <a:t>University), Visakhapatnam.</a:t>
            </a:r>
            <a:endParaRPr sz="2000" dirty="0">
              <a:latin typeface="Times New Roman"/>
              <a:cs typeface="Times New Roman"/>
            </a:endParaRPr>
          </a:p>
        </p:txBody>
      </p:sp>
      <p:pic>
        <p:nvPicPr>
          <p:cNvPr id="8" name="object 8"/>
          <p:cNvPicPr/>
          <p:nvPr/>
        </p:nvPicPr>
        <p:blipFill>
          <a:blip r:embed="rId2" cstate="print"/>
          <a:stretch>
            <a:fillRect/>
          </a:stretch>
        </p:blipFill>
        <p:spPr>
          <a:xfrm>
            <a:off x="6804025" y="-63"/>
            <a:ext cx="2339975" cy="9350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87655" rIns="0" bIns="0" rtlCol="0">
            <a:spAutoFit/>
          </a:bodyPr>
          <a:lstStyle/>
          <a:p>
            <a:pPr marL="12700">
              <a:lnSpc>
                <a:spcPct val="100000"/>
              </a:lnSpc>
              <a:spcBef>
                <a:spcPts val="95"/>
              </a:spcBef>
            </a:pPr>
            <a:r>
              <a:rPr spc="-10" dirty="0"/>
              <a:t>CONTENTS</a:t>
            </a:r>
          </a:p>
        </p:txBody>
      </p:sp>
      <p:sp>
        <p:nvSpPr>
          <p:cNvPr id="3" name="object 3"/>
          <p:cNvSpPr txBox="1">
            <a:spLocks noGrp="1"/>
          </p:cNvSpPr>
          <p:nvPr>
            <p:ph type="body" idx="1"/>
          </p:nvPr>
        </p:nvSpPr>
        <p:spPr>
          <a:prstGeom prst="rect">
            <a:avLst/>
          </a:prstGeom>
        </p:spPr>
        <p:txBody>
          <a:bodyPr vert="horz" wrap="square" lIns="0" tIns="12065" rIns="0" bIns="0" rtlCol="0">
            <a:spAutoFit/>
          </a:bodyPr>
          <a:lstStyle/>
          <a:p>
            <a:pPr marL="469265" indent="-456565">
              <a:lnSpc>
                <a:spcPct val="100000"/>
              </a:lnSpc>
              <a:spcBef>
                <a:spcPts val="95"/>
              </a:spcBef>
              <a:buAutoNum type="arabicPeriod"/>
              <a:tabLst>
                <a:tab pos="469265" algn="l"/>
              </a:tabLst>
            </a:pPr>
            <a:r>
              <a:rPr dirty="0"/>
              <a:t>Recap</a:t>
            </a:r>
            <a:r>
              <a:rPr spc="-50" dirty="0"/>
              <a:t> </a:t>
            </a:r>
            <a:r>
              <a:rPr dirty="0"/>
              <a:t>of</a:t>
            </a:r>
            <a:r>
              <a:rPr spc="-60" dirty="0"/>
              <a:t> </a:t>
            </a:r>
            <a:r>
              <a:rPr dirty="0"/>
              <a:t>Capstone</a:t>
            </a:r>
            <a:r>
              <a:rPr spc="-45" dirty="0"/>
              <a:t> </a:t>
            </a:r>
            <a:r>
              <a:rPr dirty="0"/>
              <a:t>Project</a:t>
            </a:r>
            <a:r>
              <a:rPr spc="-55" dirty="0"/>
              <a:t> </a:t>
            </a:r>
            <a:r>
              <a:rPr spc="-10" dirty="0"/>
              <a:t>Introduction</a:t>
            </a:r>
            <a:r>
              <a:rPr spc="-50" dirty="0"/>
              <a:t> </a:t>
            </a:r>
            <a:r>
              <a:rPr spc="-20" dirty="0"/>
              <a:t>Review-</a:t>
            </a:r>
            <a:r>
              <a:rPr spc="-50" dirty="0"/>
              <a:t>2</a:t>
            </a:r>
          </a:p>
          <a:p>
            <a:pPr marL="927100" lvl="1" indent="-457200">
              <a:lnSpc>
                <a:spcPct val="100000"/>
              </a:lnSpc>
              <a:spcBef>
                <a:spcPts val="1845"/>
              </a:spcBef>
              <a:buAutoNum type="alphaUcPeriod"/>
              <a:tabLst>
                <a:tab pos="927100" algn="l"/>
              </a:tabLst>
            </a:pPr>
            <a:r>
              <a:rPr sz="2200" dirty="0">
                <a:solidFill>
                  <a:schemeClr val="tx1"/>
                </a:solidFill>
                <a:latin typeface="Times New Roman"/>
                <a:cs typeface="Times New Roman"/>
              </a:rPr>
              <a:t>Problem</a:t>
            </a:r>
            <a:r>
              <a:rPr sz="2200" spc="-60" dirty="0">
                <a:solidFill>
                  <a:schemeClr val="tx1"/>
                </a:solidFill>
                <a:latin typeface="Times New Roman"/>
                <a:cs typeface="Times New Roman"/>
              </a:rPr>
              <a:t> </a:t>
            </a:r>
            <a:r>
              <a:rPr sz="2200" spc="-10" dirty="0">
                <a:solidFill>
                  <a:schemeClr val="tx1"/>
                </a:solidFill>
                <a:latin typeface="Times New Roman"/>
                <a:cs typeface="Times New Roman"/>
              </a:rPr>
              <a:t>Statement</a:t>
            </a:r>
            <a:endParaRPr sz="2200" dirty="0">
              <a:solidFill>
                <a:schemeClr val="tx1"/>
              </a:solidFill>
              <a:latin typeface="Times New Roman"/>
              <a:cs typeface="Times New Roman"/>
            </a:endParaRPr>
          </a:p>
          <a:p>
            <a:pPr marL="927100" lvl="1" indent="-457200">
              <a:lnSpc>
                <a:spcPct val="100000"/>
              </a:lnSpc>
              <a:spcBef>
                <a:spcPts val="1850"/>
              </a:spcBef>
              <a:buAutoNum type="alphaUcPeriod"/>
              <a:tabLst>
                <a:tab pos="927100" algn="l"/>
              </a:tabLst>
            </a:pPr>
            <a:r>
              <a:rPr sz="2200" dirty="0">
                <a:solidFill>
                  <a:schemeClr val="tx1"/>
                </a:solidFill>
                <a:latin typeface="Times New Roman"/>
                <a:cs typeface="Times New Roman"/>
              </a:rPr>
              <a:t>Objectives</a:t>
            </a:r>
            <a:r>
              <a:rPr sz="2200" spc="-60" dirty="0">
                <a:solidFill>
                  <a:schemeClr val="tx1"/>
                </a:solidFill>
                <a:latin typeface="Times New Roman"/>
                <a:cs typeface="Times New Roman"/>
              </a:rPr>
              <a:t> </a:t>
            </a:r>
            <a:r>
              <a:rPr sz="2200" dirty="0">
                <a:solidFill>
                  <a:schemeClr val="tx1"/>
                </a:solidFill>
                <a:latin typeface="Times New Roman"/>
                <a:cs typeface="Times New Roman"/>
              </a:rPr>
              <a:t>and</a:t>
            </a:r>
            <a:r>
              <a:rPr sz="2200" spc="-45" dirty="0">
                <a:solidFill>
                  <a:schemeClr val="tx1"/>
                </a:solidFill>
                <a:latin typeface="Times New Roman"/>
                <a:cs typeface="Times New Roman"/>
              </a:rPr>
              <a:t> </a:t>
            </a:r>
            <a:r>
              <a:rPr sz="2200" dirty="0">
                <a:solidFill>
                  <a:schemeClr val="tx1"/>
                </a:solidFill>
                <a:latin typeface="Times New Roman"/>
                <a:cs typeface="Times New Roman"/>
              </a:rPr>
              <a:t>Project</a:t>
            </a:r>
            <a:r>
              <a:rPr sz="2200" spc="-85" dirty="0">
                <a:solidFill>
                  <a:schemeClr val="tx1"/>
                </a:solidFill>
                <a:latin typeface="Times New Roman"/>
                <a:cs typeface="Times New Roman"/>
              </a:rPr>
              <a:t> </a:t>
            </a:r>
            <a:r>
              <a:rPr sz="2200" spc="-10" dirty="0">
                <a:solidFill>
                  <a:schemeClr val="tx1"/>
                </a:solidFill>
                <a:latin typeface="Times New Roman"/>
                <a:cs typeface="Times New Roman"/>
              </a:rPr>
              <a:t>Workflow</a:t>
            </a:r>
            <a:endParaRPr sz="2200" dirty="0">
              <a:solidFill>
                <a:schemeClr val="tx1"/>
              </a:solidFill>
              <a:latin typeface="Times New Roman"/>
              <a:cs typeface="Times New Roman"/>
            </a:endParaRPr>
          </a:p>
          <a:p>
            <a:pPr marL="927100" lvl="1" indent="-457200">
              <a:lnSpc>
                <a:spcPct val="100000"/>
              </a:lnSpc>
              <a:spcBef>
                <a:spcPts val="1850"/>
              </a:spcBef>
              <a:buAutoNum type="alphaUcPeriod"/>
              <a:tabLst>
                <a:tab pos="927100" algn="l"/>
              </a:tabLst>
            </a:pPr>
            <a:r>
              <a:rPr sz="2200" dirty="0">
                <a:solidFill>
                  <a:schemeClr val="tx1"/>
                </a:solidFill>
                <a:latin typeface="Times New Roman"/>
                <a:cs typeface="Times New Roman"/>
              </a:rPr>
              <a:t>Feedback</a:t>
            </a:r>
            <a:r>
              <a:rPr sz="2200" spc="-45" dirty="0">
                <a:solidFill>
                  <a:schemeClr val="tx1"/>
                </a:solidFill>
                <a:latin typeface="Times New Roman"/>
                <a:cs typeface="Times New Roman"/>
              </a:rPr>
              <a:t> </a:t>
            </a:r>
            <a:r>
              <a:rPr sz="2200" dirty="0">
                <a:solidFill>
                  <a:schemeClr val="tx1"/>
                </a:solidFill>
                <a:latin typeface="Times New Roman"/>
                <a:cs typeface="Times New Roman"/>
              </a:rPr>
              <a:t>from</a:t>
            </a:r>
            <a:r>
              <a:rPr sz="2200" spc="-40" dirty="0">
                <a:solidFill>
                  <a:schemeClr val="tx1"/>
                </a:solidFill>
                <a:latin typeface="Times New Roman"/>
                <a:cs typeface="Times New Roman"/>
              </a:rPr>
              <a:t> </a:t>
            </a:r>
            <a:r>
              <a:rPr sz="2200" spc="-10" dirty="0">
                <a:solidFill>
                  <a:schemeClr val="tx1"/>
                </a:solidFill>
                <a:latin typeface="Times New Roman"/>
                <a:cs typeface="Times New Roman"/>
              </a:rPr>
              <a:t>Guide/Reviewers</a:t>
            </a:r>
            <a:r>
              <a:rPr sz="2200" spc="-35" dirty="0">
                <a:solidFill>
                  <a:schemeClr val="tx1"/>
                </a:solidFill>
                <a:latin typeface="Times New Roman"/>
                <a:cs typeface="Times New Roman"/>
              </a:rPr>
              <a:t> </a:t>
            </a:r>
            <a:r>
              <a:rPr sz="2200" dirty="0">
                <a:solidFill>
                  <a:schemeClr val="tx1"/>
                </a:solidFill>
                <a:latin typeface="Times New Roman"/>
                <a:cs typeface="Times New Roman"/>
              </a:rPr>
              <a:t>and</a:t>
            </a:r>
            <a:r>
              <a:rPr sz="2200" spc="-50" dirty="0">
                <a:solidFill>
                  <a:schemeClr val="tx1"/>
                </a:solidFill>
                <a:latin typeface="Times New Roman"/>
                <a:cs typeface="Times New Roman"/>
              </a:rPr>
              <a:t> </a:t>
            </a:r>
            <a:r>
              <a:rPr sz="2200" dirty="0">
                <a:solidFill>
                  <a:schemeClr val="tx1"/>
                </a:solidFill>
                <a:latin typeface="Times New Roman"/>
                <a:cs typeface="Times New Roman"/>
              </a:rPr>
              <a:t>actions</a:t>
            </a:r>
            <a:r>
              <a:rPr sz="2200" spc="-45" dirty="0">
                <a:solidFill>
                  <a:schemeClr val="tx1"/>
                </a:solidFill>
                <a:latin typeface="Times New Roman"/>
                <a:cs typeface="Times New Roman"/>
              </a:rPr>
              <a:t> </a:t>
            </a:r>
            <a:r>
              <a:rPr sz="2200" dirty="0">
                <a:solidFill>
                  <a:schemeClr val="tx1"/>
                </a:solidFill>
                <a:latin typeface="Times New Roman"/>
                <a:cs typeface="Times New Roman"/>
              </a:rPr>
              <a:t>taken</a:t>
            </a:r>
            <a:r>
              <a:rPr sz="2200" spc="-55" dirty="0">
                <a:solidFill>
                  <a:schemeClr val="tx1"/>
                </a:solidFill>
                <a:latin typeface="Times New Roman"/>
                <a:cs typeface="Times New Roman"/>
              </a:rPr>
              <a:t> </a:t>
            </a:r>
            <a:r>
              <a:rPr sz="2200" dirty="0">
                <a:solidFill>
                  <a:schemeClr val="tx1"/>
                </a:solidFill>
                <a:latin typeface="Times New Roman"/>
                <a:cs typeface="Times New Roman"/>
              </a:rPr>
              <a:t>after</a:t>
            </a:r>
            <a:r>
              <a:rPr sz="2200" spc="-25" dirty="0">
                <a:solidFill>
                  <a:schemeClr val="tx1"/>
                </a:solidFill>
                <a:latin typeface="Times New Roman"/>
                <a:cs typeface="Times New Roman"/>
              </a:rPr>
              <a:t> </a:t>
            </a:r>
            <a:r>
              <a:rPr sz="2200" spc="-10" dirty="0">
                <a:solidFill>
                  <a:schemeClr val="tx1"/>
                </a:solidFill>
                <a:latin typeface="Times New Roman"/>
                <a:cs typeface="Times New Roman"/>
              </a:rPr>
              <a:t>Review–2</a:t>
            </a:r>
            <a:endParaRPr sz="2200" dirty="0">
              <a:solidFill>
                <a:schemeClr val="tx1"/>
              </a:solidFill>
              <a:latin typeface="Times New Roman"/>
              <a:cs typeface="Times New Roman"/>
            </a:endParaRPr>
          </a:p>
          <a:p>
            <a:pPr marL="469265" indent="-456565">
              <a:lnSpc>
                <a:spcPct val="100000"/>
              </a:lnSpc>
              <a:spcBef>
                <a:spcPts val="1850"/>
              </a:spcBef>
              <a:buAutoNum type="arabicPeriod"/>
              <a:tabLst>
                <a:tab pos="469265" algn="l"/>
              </a:tabLst>
            </a:pPr>
            <a:r>
              <a:rPr b="0" spc="-10" dirty="0">
                <a:latin typeface="Times New Roman"/>
                <a:cs typeface="Times New Roman"/>
              </a:rPr>
              <a:t>Methodology/Algorithms</a:t>
            </a:r>
          </a:p>
          <a:p>
            <a:pPr marL="469265" indent="-456565">
              <a:lnSpc>
                <a:spcPct val="100000"/>
              </a:lnSpc>
              <a:spcBef>
                <a:spcPts val="1850"/>
              </a:spcBef>
              <a:buAutoNum type="arabicPeriod"/>
              <a:tabLst>
                <a:tab pos="469265" algn="l"/>
              </a:tabLst>
            </a:pPr>
            <a:r>
              <a:rPr b="0" dirty="0">
                <a:latin typeface="Times New Roman"/>
                <a:cs typeface="Times New Roman"/>
              </a:rPr>
              <a:t>Status</a:t>
            </a:r>
            <a:r>
              <a:rPr b="0" spc="-25" dirty="0">
                <a:latin typeface="Times New Roman"/>
                <a:cs typeface="Times New Roman"/>
              </a:rPr>
              <a:t> </a:t>
            </a:r>
            <a:r>
              <a:rPr b="0" dirty="0">
                <a:latin typeface="Times New Roman"/>
                <a:cs typeface="Times New Roman"/>
              </a:rPr>
              <a:t>of</a:t>
            </a:r>
            <a:r>
              <a:rPr b="0" spc="-25" dirty="0">
                <a:latin typeface="Times New Roman"/>
                <a:cs typeface="Times New Roman"/>
              </a:rPr>
              <a:t> </a:t>
            </a:r>
            <a:r>
              <a:rPr b="0" spc="-10" dirty="0">
                <a:latin typeface="Times New Roman"/>
                <a:cs typeface="Times New Roman"/>
              </a:rPr>
              <a:t>Implementation</a:t>
            </a:r>
          </a:p>
          <a:p>
            <a:pPr marL="469265" indent="-456565">
              <a:lnSpc>
                <a:spcPct val="100000"/>
              </a:lnSpc>
              <a:spcBef>
                <a:spcPts val="1845"/>
              </a:spcBef>
              <a:buAutoNum type="arabicPeriod"/>
              <a:tabLst>
                <a:tab pos="469265" algn="l"/>
              </a:tabLst>
            </a:pPr>
            <a:r>
              <a:rPr b="0" spc="-10" dirty="0">
                <a:latin typeface="Times New Roman"/>
                <a:cs typeface="Times New Roman"/>
              </a:rPr>
              <a:t>Conclusion</a:t>
            </a:r>
          </a:p>
          <a:p>
            <a:pPr marL="469265" indent="-456565">
              <a:lnSpc>
                <a:spcPct val="100000"/>
              </a:lnSpc>
              <a:spcBef>
                <a:spcPts val="1850"/>
              </a:spcBef>
              <a:buAutoNum type="arabicPeriod"/>
              <a:tabLst>
                <a:tab pos="469265" algn="l"/>
              </a:tabLst>
            </a:pPr>
            <a:r>
              <a:rPr b="0" spc="-10" dirty="0">
                <a:latin typeface="Times New Roman"/>
                <a:cs typeface="Times New Roman"/>
              </a:rPr>
              <a:t>References</a:t>
            </a:r>
          </a:p>
        </p:txBody>
      </p:sp>
      <p:pic>
        <p:nvPicPr>
          <p:cNvPr id="4" name="object 4"/>
          <p:cNvPicPr/>
          <p:nvPr/>
        </p:nvPicPr>
        <p:blipFill>
          <a:blip r:embed="rId2" cstate="print"/>
          <a:stretch>
            <a:fillRect/>
          </a:stretch>
        </p:blipFill>
        <p:spPr>
          <a:xfrm>
            <a:off x="6804025" y="-63"/>
            <a:ext cx="2339975" cy="935037"/>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dirty="0">
                <a:solidFill>
                  <a:srgbClr val="000000"/>
                </a:solidFill>
              </a:rPr>
              <a:t>Problem</a:t>
            </a:r>
            <a:r>
              <a:rPr spc="-170" dirty="0">
                <a:solidFill>
                  <a:srgbClr val="000000"/>
                </a:solidFill>
              </a:rPr>
              <a:t> </a:t>
            </a:r>
            <a:r>
              <a:rPr spc="-10" dirty="0">
                <a:solidFill>
                  <a:srgbClr val="000000"/>
                </a:solidFill>
              </a:rPr>
              <a:t>Statement</a:t>
            </a:r>
          </a:p>
        </p:txBody>
      </p:sp>
      <p:sp>
        <p:nvSpPr>
          <p:cNvPr id="3" name="object 3"/>
          <p:cNvSpPr txBox="1"/>
          <p:nvPr/>
        </p:nvSpPr>
        <p:spPr>
          <a:xfrm>
            <a:off x="535940" y="1624330"/>
            <a:ext cx="7765415" cy="2475678"/>
          </a:xfrm>
          <a:prstGeom prst="rect">
            <a:avLst/>
          </a:prstGeom>
        </p:spPr>
        <p:txBody>
          <a:bodyPr vert="horz" wrap="square" lIns="0" tIns="13335" rIns="0" bIns="0" rtlCol="0">
            <a:spAutoFit/>
          </a:bodyPr>
          <a:lstStyle/>
          <a:p>
            <a:pPr marL="12700" algn="just">
              <a:lnSpc>
                <a:spcPct val="100000"/>
              </a:lnSpc>
              <a:spcBef>
                <a:spcPts val="105"/>
              </a:spcBef>
            </a:pPr>
            <a:r>
              <a:rPr lang="en-US" sz="2000" dirty="0">
                <a:latin typeface="Times New Roman" panose="02020603050405020304" pitchFamily="18" charset="0"/>
                <a:cs typeface="Times New Roman" panose="02020603050405020304" pitchFamily="18" charset="0"/>
              </a:rPr>
              <a:t>Learning from streaming data is hard because labels are limited and the data keeps changing. Most existing methods handle </a:t>
            </a:r>
            <a:r>
              <a:rPr lang="en-US" sz="2000" b="1" dirty="0">
                <a:latin typeface="Times New Roman" panose="02020603050405020304" pitchFamily="18" charset="0"/>
                <a:cs typeface="Times New Roman" panose="02020603050405020304" pitchFamily="18" charset="0"/>
              </a:rPr>
              <a:t>semi-supervised learning and active learning</a:t>
            </a:r>
            <a:r>
              <a:rPr lang="en-US" sz="2000" dirty="0">
                <a:latin typeface="Times New Roman" panose="02020603050405020304" pitchFamily="18" charset="0"/>
                <a:cs typeface="Times New Roman" panose="02020603050405020304" pitchFamily="18" charset="0"/>
              </a:rPr>
              <a:t> separately or rely on fixed querying strategies, which makes them inefficient and unstable over time. Our work focuses on a closed-loop framework that tightly integrates </a:t>
            </a:r>
            <a:r>
              <a:rPr lang="en-US" sz="2000" b="1" dirty="0">
                <a:latin typeface="Times New Roman" panose="02020603050405020304" pitchFamily="18" charset="0"/>
                <a:cs typeface="Times New Roman" panose="02020603050405020304" pitchFamily="18" charset="0"/>
              </a:rPr>
              <a:t>semi-supervised and active learning,</a:t>
            </a:r>
            <a:r>
              <a:rPr lang="en-US" sz="2000" dirty="0">
                <a:latin typeface="Times New Roman" panose="02020603050405020304" pitchFamily="18" charset="0"/>
                <a:cs typeface="Times New Roman" panose="02020603050405020304" pitchFamily="18" charset="0"/>
              </a:rPr>
              <a:t> incrementally learns from partially labeled data streams, selectively queries only the most informative samples, and naturally adapts to concept drift without retraining from scratch.</a:t>
            </a:r>
          </a:p>
        </p:txBody>
      </p:sp>
      <p:pic>
        <p:nvPicPr>
          <p:cNvPr id="4" name="object 4"/>
          <p:cNvPicPr/>
          <p:nvPr/>
        </p:nvPicPr>
        <p:blipFill>
          <a:blip r:embed="rId2" cstate="print"/>
          <a:stretch>
            <a:fillRect/>
          </a:stretch>
        </p:blipFill>
        <p:spPr>
          <a:xfrm>
            <a:off x="6804025" y="-63"/>
            <a:ext cx="2339975" cy="935037"/>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3</a:t>
            </a:fld>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676910">
              <a:lnSpc>
                <a:spcPct val="100000"/>
              </a:lnSpc>
              <a:spcBef>
                <a:spcPts val="95"/>
              </a:spcBef>
            </a:pPr>
            <a:r>
              <a:rPr spc="-10" dirty="0">
                <a:solidFill>
                  <a:srgbClr val="000000"/>
                </a:solidFill>
              </a:rPr>
              <a:t>Objectives</a:t>
            </a:r>
          </a:p>
        </p:txBody>
      </p:sp>
      <p:pic>
        <p:nvPicPr>
          <p:cNvPr id="4" name="object 4"/>
          <p:cNvPicPr/>
          <p:nvPr/>
        </p:nvPicPr>
        <p:blipFill>
          <a:blip r:embed="rId2" cstate="print"/>
          <a:stretch>
            <a:fillRect/>
          </a:stretch>
        </p:blipFill>
        <p:spPr>
          <a:xfrm>
            <a:off x="6804025" y="-63"/>
            <a:ext cx="2339975" cy="935037"/>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4</a:t>
            </a:fld>
            <a:endParaRPr spc="-25" dirty="0"/>
          </a:p>
        </p:txBody>
      </p:sp>
      <p:sp>
        <p:nvSpPr>
          <p:cNvPr id="9" name="Rectangle 4">
            <a:extLst>
              <a:ext uri="{FF2B5EF4-FFF2-40B4-BE49-F238E27FC236}">
                <a16:creationId xmlns:a16="http://schemas.microsoft.com/office/drawing/2014/main" id="{0EC44F09-834D-C212-F40D-8D14448600E8}"/>
              </a:ext>
            </a:extLst>
          </p:cNvPr>
          <p:cNvSpPr>
            <a:spLocks noChangeArrowheads="1"/>
          </p:cNvSpPr>
          <p:nvPr/>
        </p:nvSpPr>
        <p:spPr bwMode="auto">
          <a:xfrm>
            <a:off x="304800" y="1524000"/>
            <a:ext cx="8610600"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design a semi-supervised learning framework for streaming data classification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reduce labeling cost using active learning strategies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improve sample selection reliability using a dual-teacher mechanism</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handle concept drift through incremental model updates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evaluate model performance on real-world streaming datasets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276225">
              <a:lnSpc>
                <a:spcPct val="100000"/>
              </a:lnSpc>
              <a:spcBef>
                <a:spcPts val="95"/>
              </a:spcBef>
            </a:pPr>
            <a:r>
              <a:rPr dirty="0">
                <a:solidFill>
                  <a:srgbClr val="000000"/>
                </a:solidFill>
              </a:rPr>
              <a:t>Design</a:t>
            </a:r>
            <a:r>
              <a:rPr spc="-105" dirty="0">
                <a:solidFill>
                  <a:srgbClr val="000000"/>
                </a:solidFill>
              </a:rPr>
              <a:t> </a:t>
            </a:r>
            <a:r>
              <a:rPr spc="-10" dirty="0">
                <a:solidFill>
                  <a:srgbClr val="000000"/>
                </a:solidFill>
              </a:rPr>
              <a:t>Strategy</a:t>
            </a:r>
          </a:p>
        </p:txBody>
      </p:sp>
      <p:sp>
        <p:nvSpPr>
          <p:cNvPr id="3" name="object 3"/>
          <p:cNvSpPr txBox="1"/>
          <p:nvPr/>
        </p:nvSpPr>
        <p:spPr>
          <a:xfrm>
            <a:off x="685800" y="1240740"/>
            <a:ext cx="1957705" cy="330835"/>
          </a:xfrm>
          <a:prstGeom prst="rect">
            <a:avLst/>
          </a:prstGeom>
        </p:spPr>
        <p:txBody>
          <a:bodyPr vert="horz" wrap="square" lIns="0" tIns="13335" rIns="0" bIns="0" rtlCol="0">
            <a:spAutoFit/>
          </a:bodyPr>
          <a:lstStyle/>
          <a:p>
            <a:pPr marL="12700">
              <a:lnSpc>
                <a:spcPct val="100000"/>
              </a:lnSpc>
              <a:spcBef>
                <a:spcPts val="105"/>
              </a:spcBef>
            </a:pPr>
            <a:r>
              <a:rPr sz="2000" b="1" dirty="0">
                <a:latin typeface="Times New Roman"/>
                <a:cs typeface="Times New Roman"/>
              </a:rPr>
              <a:t>Project</a:t>
            </a:r>
            <a:r>
              <a:rPr sz="2000" b="1" spc="-105" dirty="0">
                <a:latin typeface="Times New Roman"/>
                <a:cs typeface="Times New Roman"/>
              </a:rPr>
              <a:t> </a:t>
            </a:r>
            <a:r>
              <a:rPr sz="2000" b="1" spc="-10" dirty="0">
                <a:latin typeface="Times New Roman"/>
                <a:cs typeface="Times New Roman"/>
              </a:rPr>
              <a:t>Workflow</a:t>
            </a:r>
            <a:endParaRPr sz="2000" dirty="0">
              <a:latin typeface="Times New Roman"/>
              <a:cs typeface="Times New Roman"/>
            </a:endParaRPr>
          </a:p>
        </p:txBody>
      </p:sp>
      <p:pic>
        <p:nvPicPr>
          <p:cNvPr id="4" name="object 4"/>
          <p:cNvPicPr/>
          <p:nvPr/>
        </p:nvPicPr>
        <p:blipFill>
          <a:blip r:embed="rId2" cstate="print"/>
          <a:stretch>
            <a:fillRect/>
          </a:stretch>
        </p:blipFill>
        <p:spPr>
          <a:xfrm>
            <a:off x="6804025" y="-63"/>
            <a:ext cx="2339975" cy="935037"/>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5</a:t>
            </a:fld>
            <a:endParaRPr spc="-25" dirty="0"/>
          </a:p>
        </p:txBody>
      </p:sp>
      <p:sp>
        <p:nvSpPr>
          <p:cNvPr id="7" name="TextBox 6">
            <a:extLst>
              <a:ext uri="{FF2B5EF4-FFF2-40B4-BE49-F238E27FC236}">
                <a16:creationId xmlns:a16="http://schemas.microsoft.com/office/drawing/2014/main" id="{368FA32D-06AE-69A0-60A8-049E7DC33F6E}"/>
              </a:ext>
            </a:extLst>
          </p:cNvPr>
          <p:cNvSpPr txBox="1"/>
          <p:nvPr/>
        </p:nvSpPr>
        <p:spPr>
          <a:xfrm>
            <a:off x="609600" y="1751992"/>
            <a:ext cx="7817357" cy="193899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system is designed as a closed-loop learning framework combining semi-supervised learning, active learning, and neural networks. An RBF neural network is used as the main learner due to its fast convergence and nonlinear modeling ability. Two teacher models—</a:t>
            </a:r>
            <a:r>
              <a:rPr lang="en-US" sz="2000" b="1" dirty="0">
                <a:latin typeface="Times New Roman" panose="02020603050405020304" pitchFamily="18" charset="0"/>
                <a:cs typeface="Times New Roman" panose="02020603050405020304" pitchFamily="18" charset="0"/>
              </a:rPr>
              <a:t>KNN and RBF</a:t>
            </a:r>
            <a:r>
              <a:rPr lang="en-US" sz="2000" dirty="0">
                <a:latin typeface="Times New Roman" panose="02020603050405020304" pitchFamily="18" charset="0"/>
                <a:cs typeface="Times New Roman" panose="02020603050405020304" pitchFamily="18" charset="0"/>
              </a:rPr>
              <a:t>—are used to guide sample selection through </a:t>
            </a:r>
            <a:r>
              <a:rPr lang="en-US" sz="2000" b="1" dirty="0">
                <a:latin typeface="Times New Roman" panose="02020603050405020304" pitchFamily="18" charset="0"/>
                <a:cs typeface="Times New Roman" panose="02020603050405020304" pitchFamily="18" charset="0"/>
              </a:rPr>
              <a:t>disagreement measurement</a:t>
            </a:r>
            <a:r>
              <a:rPr lang="en-US" sz="2000" dirty="0">
                <a:latin typeface="Times New Roman" panose="02020603050405020304" pitchFamily="18" charset="0"/>
                <a:cs typeface="Times New Roman" panose="02020603050405020304" pitchFamily="18" charset="0"/>
              </a:rPr>
              <a:t>, ensuring both local and global data representation.</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4">
            <a:extLst>
              <a:ext uri="{FF2B5EF4-FFF2-40B4-BE49-F238E27FC236}">
                <a16:creationId xmlns:a16="http://schemas.microsoft.com/office/drawing/2014/main" id="{ECB2294A-2FEB-50B2-1C1B-FBCB0F6E2A75}"/>
              </a:ext>
            </a:extLst>
          </p:cNvPr>
          <p:cNvPicPr/>
          <p:nvPr/>
        </p:nvPicPr>
        <p:blipFill>
          <a:blip r:embed="rId2" cstate="print"/>
          <a:stretch>
            <a:fillRect/>
          </a:stretch>
        </p:blipFill>
        <p:spPr>
          <a:xfrm>
            <a:off x="6804025" y="-63"/>
            <a:ext cx="2339975" cy="935037"/>
          </a:xfrm>
          <a:prstGeom prst="rect">
            <a:avLst/>
          </a:prstGeom>
        </p:spPr>
      </p:pic>
      <p:pic>
        <p:nvPicPr>
          <p:cNvPr id="5" name="Picture 4">
            <a:extLst>
              <a:ext uri="{FF2B5EF4-FFF2-40B4-BE49-F238E27FC236}">
                <a16:creationId xmlns:a16="http://schemas.microsoft.com/office/drawing/2014/main" id="{C68431B7-CEB9-B3CA-8954-A88CD1C85E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0" y="1219200"/>
            <a:ext cx="5143500" cy="5143500"/>
          </a:xfrm>
          <a:prstGeom prst="rect">
            <a:avLst/>
          </a:prstGeom>
        </p:spPr>
      </p:pic>
      <p:sp>
        <p:nvSpPr>
          <p:cNvPr id="6" name="object 2">
            <a:extLst>
              <a:ext uri="{FF2B5EF4-FFF2-40B4-BE49-F238E27FC236}">
                <a16:creationId xmlns:a16="http://schemas.microsoft.com/office/drawing/2014/main" id="{73ADFA3F-2DD4-98C8-095A-C00BC3636462}"/>
              </a:ext>
            </a:extLst>
          </p:cNvPr>
          <p:cNvSpPr txBox="1">
            <a:spLocks/>
          </p:cNvSpPr>
          <p:nvPr/>
        </p:nvSpPr>
        <p:spPr>
          <a:xfrm>
            <a:off x="3096005" y="600583"/>
            <a:ext cx="2951988" cy="443070"/>
          </a:xfrm>
          <a:prstGeom prst="rect">
            <a:avLst/>
          </a:prstGeom>
        </p:spPr>
        <p:txBody>
          <a:bodyPr vert="horz" wrap="square" lIns="0" tIns="12065" rIns="0" bIns="0" rtlCol="0">
            <a:spAutoFit/>
          </a:bodyPr>
          <a:lstStyle>
            <a:lvl1pPr>
              <a:defRPr>
                <a:latin typeface="+mj-lt"/>
                <a:ea typeface="+mj-ea"/>
                <a:cs typeface="+mj-cs"/>
              </a:defRPr>
            </a:lvl1pPr>
          </a:lstStyle>
          <a:p>
            <a:pPr marL="276225">
              <a:spcBef>
                <a:spcPts val="95"/>
              </a:spcBef>
            </a:pPr>
            <a:r>
              <a:rPr lang="en-IN" sz="2800" b="1" dirty="0">
                <a:solidFill>
                  <a:srgbClr val="000000"/>
                </a:solidFill>
                <a:latin typeface="Times New Roman" panose="02020603050405020304" pitchFamily="18" charset="0"/>
                <a:cs typeface="Times New Roman" panose="02020603050405020304" pitchFamily="18" charset="0"/>
              </a:rPr>
              <a:t>Design</a:t>
            </a:r>
            <a:r>
              <a:rPr lang="en-IN" sz="2800" b="1" spc="-105" dirty="0">
                <a:solidFill>
                  <a:srgbClr val="000000"/>
                </a:solidFill>
                <a:latin typeface="Times New Roman" panose="02020603050405020304" pitchFamily="18" charset="0"/>
                <a:cs typeface="Times New Roman" panose="02020603050405020304" pitchFamily="18" charset="0"/>
              </a:rPr>
              <a:t> </a:t>
            </a:r>
            <a:r>
              <a:rPr lang="en-IN" sz="2800" b="1" spc="-10" dirty="0">
                <a:solidFill>
                  <a:srgbClr val="000000"/>
                </a:solidFill>
                <a:latin typeface="Times New Roman" panose="02020603050405020304" pitchFamily="18" charset="0"/>
                <a:cs typeface="Times New Roman" panose="02020603050405020304" pitchFamily="18" charset="0"/>
              </a:rPr>
              <a:t>Strategy</a:t>
            </a:r>
          </a:p>
        </p:txBody>
      </p:sp>
    </p:spTree>
    <p:extLst>
      <p:ext uri="{BB962C8B-B14F-4D97-AF65-F5344CB8AC3E}">
        <p14:creationId xmlns:p14="http://schemas.microsoft.com/office/powerpoint/2010/main" val="945424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152400"/>
            <a:ext cx="5837427" cy="1304844"/>
          </a:xfrm>
          <a:prstGeom prst="rect">
            <a:avLst/>
          </a:prstGeom>
        </p:spPr>
        <p:txBody>
          <a:bodyPr vert="horz" wrap="square" lIns="0" tIns="12065" rIns="0" bIns="0" rtlCol="0">
            <a:spAutoFit/>
          </a:bodyPr>
          <a:lstStyle/>
          <a:p>
            <a:pPr marL="2740660" marR="5080" indent="-2728595" algn="l">
              <a:lnSpc>
                <a:spcPct val="100000"/>
              </a:lnSpc>
              <a:spcBef>
                <a:spcPts val="95"/>
              </a:spcBef>
            </a:pPr>
            <a:r>
              <a:rPr lang="en-US" dirty="0">
                <a:solidFill>
                  <a:srgbClr val="000000"/>
                </a:solidFill>
              </a:rPr>
              <a:t>Feedback from</a:t>
            </a:r>
            <a:r>
              <a:rPr lang="en-US" spc="-100" dirty="0">
                <a:solidFill>
                  <a:srgbClr val="000000"/>
                </a:solidFill>
              </a:rPr>
              <a:t> </a:t>
            </a:r>
            <a:r>
              <a:rPr lang="en-US" dirty="0">
                <a:solidFill>
                  <a:srgbClr val="000000"/>
                </a:solidFill>
              </a:rPr>
              <a:t>Guide/Reviewers</a:t>
            </a:r>
            <a:r>
              <a:rPr lang="en-US" spc="-80" dirty="0">
                <a:solidFill>
                  <a:srgbClr val="000000"/>
                </a:solidFill>
              </a:rPr>
              <a:t> </a:t>
            </a:r>
            <a:r>
              <a:rPr lang="en-US" dirty="0">
                <a:solidFill>
                  <a:srgbClr val="000000"/>
                </a:solidFill>
              </a:rPr>
              <a:t>and</a:t>
            </a:r>
            <a:r>
              <a:rPr lang="en-US" spc="-114" dirty="0">
                <a:solidFill>
                  <a:srgbClr val="000000"/>
                </a:solidFill>
              </a:rPr>
              <a:t> </a:t>
            </a:r>
            <a:r>
              <a:rPr lang="en-US" dirty="0">
                <a:solidFill>
                  <a:srgbClr val="000000"/>
                </a:solidFill>
              </a:rPr>
              <a:t>actions</a:t>
            </a:r>
            <a:r>
              <a:rPr lang="en-US" spc="-120" dirty="0">
                <a:solidFill>
                  <a:srgbClr val="000000"/>
                </a:solidFill>
              </a:rPr>
              <a:t> </a:t>
            </a:r>
            <a:r>
              <a:rPr lang="en-US" spc="-10" dirty="0">
                <a:solidFill>
                  <a:srgbClr val="000000"/>
                </a:solidFill>
              </a:rPr>
              <a:t>taken </a:t>
            </a:r>
            <a:r>
              <a:rPr lang="en-US" dirty="0">
                <a:solidFill>
                  <a:srgbClr val="000000"/>
                </a:solidFill>
              </a:rPr>
              <a:t>after </a:t>
            </a:r>
            <a:r>
              <a:rPr lang="en-US" spc="-10" dirty="0">
                <a:solidFill>
                  <a:srgbClr val="000000"/>
                </a:solidFill>
              </a:rPr>
              <a:t>Review–2</a:t>
            </a:r>
            <a:endParaRPr spc="-10" dirty="0">
              <a:solidFill>
                <a:srgbClr val="000000"/>
              </a:solidFill>
            </a:endParaRPr>
          </a:p>
        </p:txBody>
      </p:sp>
      <p:sp>
        <p:nvSpPr>
          <p:cNvPr id="3" name="object 3"/>
          <p:cNvSpPr txBox="1"/>
          <p:nvPr/>
        </p:nvSpPr>
        <p:spPr>
          <a:xfrm>
            <a:off x="266700" y="1669905"/>
            <a:ext cx="8610599" cy="4630114"/>
          </a:xfrm>
          <a:prstGeom prst="rect">
            <a:avLst/>
          </a:prstGeom>
        </p:spPr>
        <p:txBody>
          <a:bodyPr vert="horz" wrap="square" lIns="0" tIns="13335" rIns="0" bIns="0" rtlCol="0">
            <a:spAutoFit/>
          </a:bodyPr>
          <a:lstStyle/>
          <a:p>
            <a:pPr marL="15240" marR="4189095">
              <a:lnSpc>
                <a:spcPct val="100000"/>
              </a:lnSpc>
              <a:spcBef>
                <a:spcPts val="5"/>
              </a:spcBef>
            </a:pPr>
            <a:r>
              <a:rPr sz="2000" b="1" dirty="0">
                <a:latin typeface="Times New Roman" panose="02020603050405020304" pitchFamily="18" charset="0"/>
                <a:cs typeface="Times New Roman" panose="02020603050405020304" pitchFamily="18" charset="0"/>
              </a:rPr>
              <a:t>Feedback</a:t>
            </a:r>
            <a:r>
              <a:rPr sz="2000" b="1" spc="-5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from</a:t>
            </a:r>
            <a:r>
              <a:rPr sz="2000" b="1" spc="-50"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Guide/Reviewers </a:t>
            </a:r>
            <a:endParaRPr lang="en-IN" sz="2000" b="1" spc="-10" dirty="0">
              <a:latin typeface="Times New Roman" panose="02020603050405020304" pitchFamily="18" charset="0"/>
              <a:cs typeface="Times New Roman" panose="02020603050405020304" pitchFamily="18" charset="0"/>
            </a:endParaRPr>
          </a:p>
          <a:p>
            <a:r>
              <a:rPr sz="2000" b="1" spc="-25" dirty="0">
                <a:latin typeface="Times New Roman" panose="02020603050405020304" pitchFamily="18" charset="0"/>
                <a:cs typeface="Times New Roman" panose="02020603050405020304" pitchFamily="18" charset="0"/>
              </a:rPr>
              <a:t>1.</a:t>
            </a:r>
            <a:r>
              <a:rPr lang="en-US" sz="2000" b="1" spc="-2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Suggested strengthening the work by focusing on a tighter integration of semi-supervised learning and active learning as a unified framework.</a:t>
            </a:r>
          </a:p>
          <a:p>
            <a:pPr marL="15240" marR="4189095">
              <a:lnSpc>
                <a:spcPct val="100000"/>
              </a:lnSpc>
              <a:spcBef>
                <a:spcPts val="5"/>
              </a:spcBef>
            </a:pPr>
            <a:endParaRPr lang="en-US" sz="2000" dirty="0">
              <a:latin typeface="Times New Roman" panose="02020603050405020304" pitchFamily="18" charset="0"/>
              <a:cs typeface="Times New Roman" panose="02020603050405020304" pitchFamily="18" charset="0"/>
            </a:endParaRPr>
          </a:p>
          <a:p>
            <a:pPr marL="15240"/>
            <a:r>
              <a:rPr lang="en-US" sz="2000" b="1" spc="-25" dirty="0">
                <a:latin typeface="Times New Roman" panose="02020603050405020304" pitchFamily="18" charset="0"/>
                <a:cs typeface="Times New Roman" panose="02020603050405020304" pitchFamily="18" charset="0"/>
              </a:rPr>
              <a:t>2. </a:t>
            </a:r>
            <a:r>
              <a:rPr lang="en-US" sz="2000" dirty="0">
                <a:latin typeface="Times New Roman" panose="02020603050405020304" pitchFamily="18" charset="0"/>
                <a:cs typeface="Times New Roman" panose="02020603050405020304" pitchFamily="18" charset="0"/>
              </a:rPr>
              <a:t>Recommended enhancing the query strategy to be more adaptive over time, improving label efficiency and robustness in streaming scenarios.</a:t>
            </a:r>
            <a:endParaRPr lang="en-US" sz="2000" b="1" spc="-25" dirty="0">
              <a:latin typeface="Times New Roman" panose="02020603050405020304" pitchFamily="18" charset="0"/>
              <a:cs typeface="Times New Roman" panose="02020603050405020304" pitchFamily="18" charset="0"/>
            </a:endParaRPr>
          </a:p>
          <a:p>
            <a:pPr marL="15240"/>
            <a:endParaRPr sz="2000" dirty="0">
              <a:latin typeface="Times New Roman" panose="02020603050405020304" pitchFamily="18" charset="0"/>
              <a:cs typeface="Times New Roman" panose="02020603050405020304" pitchFamily="18" charset="0"/>
            </a:endParaRPr>
          </a:p>
          <a:p>
            <a:pPr marL="15240" marR="6252210">
              <a:lnSpc>
                <a:spcPct val="100000"/>
              </a:lnSpc>
            </a:pPr>
            <a:r>
              <a:rPr sz="2000" b="1" dirty="0">
                <a:latin typeface="Times New Roman" panose="02020603050405020304" pitchFamily="18" charset="0"/>
                <a:cs typeface="Times New Roman" panose="02020603050405020304" pitchFamily="18" charset="0"/>
              </a:rPr>
              <a:t>Actions</a:t>
            </a:r>
            <a:r>
              <a:rPr sz="2000" b="1" spc="-40" dirty="0">
                <a:latin typeface="Times New Roman" panose="02020603050405020304" pitchFamily="18" charset="0"/>
                <a:cs typeface="Times New Roman" panose="02020603050405020304" pitchFamily="18" charset="0"/>
              </a:rPr>
              <a:t> </a:t>
            </a:r>
            <a:r>
              <a:rPr sz="2000" b="1" spc="-20" dirty="0">
                <a:latin typeface="Times New Roman" panose="02020603050405020304" pitchFamily="18" charset="0"/>
                <a:cs typeface="Times New Roman" panose="02020603050405020304" pitchFamily="18" charset="0"/>
              </a:rPr>
              <a:t>taken </a:t>
            </a:r>
            <a:endParaRPr lang="en-IN" sz="2000" b="1" spc="-20" dirty="0">
              <a:latin typeface="Times New Roman" panose="02020603050405020304" pitchFamily="18" charset="0"/>
              <a:cs typeface="Times New Roman" panose="02020603050405020304" pitchFamily="18" charset="0"/>
            </a:endParaRPr>
          </a:p>
          <a:p>
            <a:r>
              <a:rPr sz="2000" b="1" spc="-25" dirty="0">
                <a:latin typeface="Times New Roman" panose="02020603050405020304" pitchFamily="18" charset="0"/>
                <a:cs typeface="Times New Roman" panose="02020603050405020304" pitchFamily="18" charset="0"/>
              </a:rPr>
              <a:t>1.</a:t>
            </a:r>
            <a:r>
              <a:rPr lang="en-IN" sz="2000" b="1" spc="-25"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Closed-Loop Integration</a:t>
            </a: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Closed-loop integration: SSL and AL are unified into a single iterative learning loop.</a:t>
            </a:r>
            <a:endParaRPr lang="en-IN" sz="2000" b="1" spc="-25" dirty="0">
              <a:latin typeface="Times New Roman" panose="02020603050405020304" pitchFamily="18" charset="0"/>
              <a:cs typeface="Times New Roman" panose="02020603050405020304" pitchFamily="18" charset="0"/>
            </a:endParaRPr>
          </a:p>
          <a:p>
            <a:pPr marL="15240" marR="6252210">
              <a:lnSpc>
                <a:spcPct val="100000"/>
              </a:lnSpc>
            </a:pPr>
            <a:endParaRPr lang="en-IN" sz="2000" b="1" spc="-25" dirty="0">
              <a:latin typeface="Times New Roman" panose="02020603050405020304" pitchFamily="18" charset="0"/>
              <a:cs typeface="Times New Roman" panose="02020603050405020304" pitchFamily="18" charset="0"/>
            </a:endParaRPr>
          </a:p>
          <a:p>
            <a:r>
              <a:rPr sz="2000" b="1" spc="-25" dirty="0">
                <a:latin typeface="Times New Roman" panose="02020603050405020304" pitchFamily="18" charset="0"/>
                <a:cs typeface="Times New Roman" panose="02020603050405020304" pitchFamily="18" charset="0"/>
              </a:rPr>
              <a:t>2.</a:t>
            </a:r>
            <a:r>
              <a:rPr lang="en-IN" sz="2000" b="1" spc="-25" dirty="0">
                <a:latin typeface="Times New Roman" panose="02020603050405020304" pitchFamily="18" charset="0"/>
                <a:cs typeface="Times New Roman" panose="02020603050405020304" pitchFamily="18" charset="0"/>
              </a:rPr>
              <a:t> </a:t>
            </a:r>
            <a:r>
              <a:rPr lang="en-US" sz="2000" spc="-25"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Adaptive Querying</a:t>
            </a: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Each queried label reshapes future uncertainty and query selection.</a:t>
            </a:r>
            <a:endParaRPr lang="en-IN" sz="2000" b="1" spc="-25" dirty="0">
              <a:latin typeface="Times New Roman" panose="02020603050405020304" pitchFamily="18" charset="0"/>
              <a:cs typeface="Times New Roman" panose="02020603050405020304" pitchFamily="18" charset="0"/>
            </a:endParaRPr>
          </a:p>
          <a:p>
            <a:pPr marL="15240" marR="6252210">
              <a:lnSpc>
                <a:spcPct val="100000"/>
              </a:lnSpc>
            </a:pPr>
            <a:endParaRPr sz="2000" dirty="0">
              <a:latin typeface="Times New Roman" panose="02020603050405020304" pitchFamily="18" charset="0"/>
              <a:cs typeface="Times New Roman" panose="02020603050405020304" pitchFamily="18" charset="0"/>
            </a:endParaRPr>
          </a:p>
          <a:p>
            <a:r>
              <a:rPr sz="2000" b="1" spc="-25" dirty="0">
                <a:latin typeface="Times New Roman" panose="02020603050405020304" pitchFamily="18" charset="0"/>
                <a:cs typeface="Times New Roman" panose="02020603050405020304" pitchFamily="18" charset="0"/>
              </a:rPr>
              <a:t>3.</a:t>
            </a:r>
            <a:r>
              <a:rPr lang="en-IN" sz="2000" b="1" spc="-25"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Drift resilience:</a:t>
            </a:r>
            <a:r>
              <a:rPr lang="en-US" sz="2000" dirty="0">
                <a:latin typeface="Times New Roman" panose="02020603050405020304" pitchFamily="18" charset="0"/>
                <a:cs typeface="Times New Roman" panose="02020603050405020304" pitchFamily="18" charset="0"/>
              </a:rPr>
              <a:t> Continuous updates enable natural adaptation to concept drift.</a:t>
            </a:r>
          </a:p>
        </p:txBody>
      </p:sp>
      <p:pic>
        <p:nvPicPr>
          <p:cNvPr id="4" name="object 4"/>
          <p:cNvPicPr/>
          <p:nvPr/>
        </p:nvPicPr>
        <p:blipFill>
          <a:blip r:embed="rId2" cstate="print"/>
          <a:stretch>
            <a:fillRect/>
          </a:stretch>
        </p:blipFill>
        <p:spPr>
          <a:xfrm>
            <a:off x="6804025" y="-63"/>
            <a:ext cx="2339975" cy="935037"/>
          </a:xfrm>
          <a:prstGeom prst="rect">
            <a:avLst/>
          </a:prstGeom>
        </p:spPr>
      </p:pic>
      <p:sp>
        <p:nvSpPr>
          <p:cNvPr id="5" name="object 5"/>
          <p:cNvSpPr txBox="1">
            <a:spLocks noGrp="1"/>
          </p:cNvSpPr>
          <p:nvPr>
            <p:ph type="sldNum" sz="quarter" idx="7"/>
          </p:nvPr>
        </p:nvSpPr>
        <p:spPr>
          <a:xfrm>
            <a:off x="8458200" y="6324600"/>
            <a:ext cx="228599" cy="156068"/>
          </a:xfrm>
          <a:prstGeom prst="rect">
            <a:avLst/>
          </a:prstGeom>
        </p:spPr>
        <p:txBody>
          <a:bodyPr vert="horz" wrap="square" lIns="0" tIns="0" rIns="0" bIns="0" rtlCol="0">
            <a:spAutoFit/>
          </a:bodyPr>
          <a:lstStyle/>
          <a:p>
            <a:pPr marL="12700">
              <a:lnSpc>
                <a:spcPts val="1240"/>
              </a:lnSpc>
            </a:pPr>
            <a:r>
              <a:rPr lang="en-IN" spc="-25" dirty="0"/>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5288" rIns="0" bIns="0" rtlCol="0">
            <a:spAutoFit/>
          </a:bodyPr>
          <a:lstStyle/>
          <a:p>
            <a:pPr marL="3243580">
              <a:lnSpc>
                <a:spcPct val="100000"/>
              </a:lnSpc>
              <a:spcBef>
                <a:spcPts val="95"/>
              </a:spcBef>
            </a:pPr>
            <a:r>
              <a:rPr spc="-10" dirty="0">
                <a:solidFill>
                  <a:srgbClr val="000000"/>
                </a:solidFill>
              </a:rPr>
              <a:t>Methodology</a:t>
            </a: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8</a:t>
            </a:fld>
            <a:endParaRPr spc="-25" dirty="0"/>
          </a:p>
        </p:txBody>
      </p:sp>
      <p:sp>
        <p:nvSpPr>
          <p:cNvPr id="7" name="TextBox 6">
            <a:extLst>
              <a:ext uri="{FF2B5EF4-FFF2-40B4-BE49-F238E27FC236}">
                <a16:creationId xmlns:a16="http://schemas.microsoft.com/office/drawing/2014/main" id="{AC66A3C0-8360-9344-E26A-5749D7662746}"/>
              </a:ext>
            </a:extLst>
          </p:cNvPr>
          <p:cNvSpPr txBox="1"/>
          <p:nvPr/>
        </p:nvSpPr>
        <p:spPr>
          <a:xfrm>
            <a:off x="457200" y="1447800"/>
            <a:ext cx="7969757" cy="163121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proposed approach brings together semi-supervised and active learning in a closed-loop system. It works on streaming data step by step, smartly picks the most useful unlabeled samples by comparing model predictions, asks for labels only when necessary, and continuously updates itself to adapt to changing data patterns.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640EE0F-29AF-12F1-FEF8-73C1A3578997}"/>
                  </a:ext>
                </a:extLst>
              </p:cNvPr>
              <p:cNvSpPr txBox="1"/>
              <p:nvPr/>
            </p:nvSpPr>
            <p:spPr>
              <a:xfrm>
                <a:off x="381000" y="1371600"/>
                <a:ext cx="8458200" cy="3832396"/>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Algorithm 1:</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Dual-Teacher Disagreement-Based Active Learning</a:t>
                </a:r>
              </a:p>
              <a:p>
                <a:pPr algn="just">
                  <a:buNone/>
                </a:pPr>
                <a:r>
                  <a:rPr lang="en-IN" sz="2000" dirty="0">
                    <a:latin typeface="Times New Roman" panose="02020603050405020304" pitchFamily="18" charset="0"/>
                    <a:cs typeface="Times New Roman" panose="02020603050405020304" pitchFamily="18" charset="0"/>
                  </a:rPr>
                  <a:t>Two complementary teachers are used to guide label querying: a </a:t>
                </a:r>
                <a:r>
                  <a:rPr lang="en-IN" sz="2000" b="1" dirty="0">
                    <a:latin typeface="Times New Roman" panose="02020603050405020304" pitchFamily="18" charset="0"/>
                    <a:cs typeface="Times New Roman" panose="02020603050405020304" pitchFamily="18" charset="0"/>
                  </a:rPr>
                  <a:t>KNN teacher</a:t>
                </a:r>
                <a:r>
                  <a:rPr lang="en-IN" sz="2000" dirty="0">
                    <a:latin typeface="Times New Roman" panose="02020603050405020304" pitchFamily="18" charset="0"/>
                    <a:cs typeface="Times New Roman" panose="02020603050405020304" pitchFamily="18" charset="0"/>
                  </a:rPr>
                  <a:t> capturing local structure and an </a:t>
                </a:r>
                <a:r>
                  <a:rPr lang="en-IN" sz="2000" b="1" dirty="0">
                    <a:latin typeface="Times New Roman" panose="02020603050405020304" pitchFamily="18" charset="0"/>
                    <a:cs typeface="Times New Roman" panose="02020603050405020304" pitchFamily="18" charset="0"/>
                  </a:rPr>
                  <a:t>RBF teacher</a:t>
                </a:r>
                <a:r>
                  <a:rPr lang="en-IN" sz="2000" dirty="0">
                    <a:latin typeface="Times New Roman" panose="02020603050405020304" pitchFamily="18" charset="0"/>
                    <a:cs typeface="Times New Roman" panose="02020603050405020304" pitchFamily="18" charset="0"/>
                  </a:rPr>
                  <a:t> capturing global data distribution. Disagreement between each teacher and the main RBF learner is computed, and samples with the highest combined disagreement are selected for labelling, ensuring informative and reliable queries.</a:t>
                </a:r>
              </a:p>
              <a:p>
                <a:pPr algn="just">
                  <a:buNone/>
                </a:pPr>
                <a:endParaRPr lang="en-IN" sz="2000" dirty="0">
                  <a:latin typeface="Times New Roman" panose="02020603050405020304" pitchFamily="18" charset="0"/>
                  <a:cs typeface="Times New Roman" panose="02020603050405020304" pitchFamily="18" charset="0"/>
                </a:endParaRPr>
              </a:p>
              <a:p>
                <a:pPr algn="just">
                  <a:buNone/>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𝐷</m:t>
                          </m:r>
                        </m:e>
                        <m:sub>
                          <m:r>
                            <a:rPr lang="ar-AE" sz="2000" i="1">
                              <a:latin typeface="Cambria Math" panose="02040503050406030204" pitchFamily="18" charset="0"/>
                            </a:rPr>
                            <m:t>𝑡𝑜𝑡𝑎𝑙</m:t>
                          </m:r>
                        </m:sub>
                      </m:sSub>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i="0">
                          <a:latin typeface="Cambria Math" panose="02040503050406030204" pitchFamily="18" charset="0"/>
                        </a:rPr>
                        <m:t>=</m:t>
                      </m:r>
                      <m:r>
                        <a:rPr lang="ar-AE" sz="2000" i="1">
                          <a:latin typeface="Cambria Math" panose="02040503050406030204" pitchFamily="18" charset="0"/>
                        </a:rPr>
                        <m:t>𝛼</m:t>
                      </m:r>
                      <m:r>
                        <a:rPr lang="ar-AE" sz="2000" i="1">
                          <a:latin typeface="Cambria Math" panose="02040503050406030204" pitchFamily="18" charset="0"/>
                        </a:rPr>
                        <m:t>𝐷</m:t>
                      </m:r>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𝑚</m:t>
                              </m:r>
                            </m:sub>
                          </m:sSub>
                        </m:e>
                        <m:e>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𝑘𝑛𝑛</m:t>
                              </m:r>
                            </m:sub>
                          </m:sSub>
                        </m:e>
                      </m:d>
                      <m:r>
                        <a:rPr lang="ar-AE" sz="2000" i="0">
                          <a:latin typeface="Cambria Math" panose="02040503050406030204" pitchFamily="18" charset="0"/>
                        </a:rPr>
                        <m:t>+</m:t>
                      </m:r>
                      <m:d>
                        <m:dPr>
                          <m:ctrlPr>
                            <a:rPr lang="ar-AE" sz="2000" i="1">
                              <a:latin typeface="Cambria Math" panose="02040503050406030204" pitchFamily="18" charset="0"/>
                            </a:rPr>
                          </m:ctrlPr>
                        </m:dPr>
                        <m:e>
                          <m:r>
                            <a:rPr lang="ar-AE" sz="2000" i="0">
                              <a:latin typeface="Cambria Math" panose="02040503050406030204" pitchFamily="18" charset="0"/>
                            </a:rPr>
                            <m:t>1</m:t>
                          </m:r>
                          <m:r>
                            <a:rPr lang="ar-AE" sz="2000" i="0">
                              <a:latin typeface="Cambria Math" panose="02040503050406030204" pitchFamily="18" charset="0"/>
                            </a:rPr>
                            <m:t>−</m:t>
                          </m:r>
                          <m:r>
                            <a:rPr lang="ar-AE" sz="2000" i="1">
                              <a:latin typeface="Cambria Math" panose="02040503050406030204" pitchFamily="18" charset="0"/>
                            </a:rPr>
                            <m:t>𝛼</m:t>
                          </m:r>
                        </m:e>
                      </m:d>
                      <m:r>
                        <a:rPr lang="ar-AE" sz="2000" i="1">
                          <a:latin typeface="Cambria Math" panose="02040503050406030204" pitchFamily="18" charset="0"/>
                        </a:rPr>
                        <m:t>𝐷</m:t>
                      </m:r>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𝑚</m:t>
                              </m:r>
                            </m:sub>
                          </m:sSub>
                        </m:e>
                        <m:e>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𝑟𝑏𝑓</m:t>
                              </m:r>
                            </m:sub>
                          </m:sSub>
                        </m:e>
                      </m:d>
                    </m:oMath>
                  </m:oMathPara>
                </a14:m>
                <a:endParaRPr lang="en-IN" sz="2000" dirty="0">
                  <a:latin typeface="Times New Roman" panose="02020603050405020304" pitchFamily="18" charset="0"/>
                  <a:cs typeface="Times New Roman" panose="02020603050405020304" pitchFamily="18" charset="0"/>
                </a:endParaRPr>
              </a:p>
              <a:p>
                <a:pPr algn="just">
                  <a:buNone/>
                </a:pPr>
                <a:endParaRPr lang="ar-AE" sz="2000" dirty="0">
                  <a:latin typeface="Times New Roman" panose="02020603050405020304" pitchFamily="18" charset="0"/>
                  <a:cs typeface="Times New Roman" panose="02020603050405020304" pitchFamily="18" charset="0"/>
                </a:endParaRPr>
              </a:p>
              <a:p>
                <a:pPr algn="just">
                  <a:buNone/>
                </a:pPr>
                <a:r>
                  <a:rPr lang="en-IN" sz="2000" dirty="0">
                    <a:latin typeface="Times New Roman" panose="02020603050405020304" pitchFamily="18" charset="0"/>
                    <a:cs typeface="Times New Roman" panose="02020603050405020304" pitchFamily="18" charset="0"/>
                  </a:rPr>
                  <a:t>where disagreement is measured using cross-entropy between predicted class probabilities.</a:t>
                </a:r>
              </a:p>
            </p:txBody>
          </p:sp>
        </mc:Choice>
        <mc:Fallback xmlns="">
          <p:sp>
            <p:nvSpPr>
              <p:cNvPr id="3" name="TextBox 2">
                <a:extLst>
                  <a:ext uri="{FF2B5EF4-FFF2-40B4-BE49-F238E27FC236}">
                    <a16:creationId xmlns:a16="http://schemas.microsoft.com/office/drawing/2014/main" id="{2640EE0F-29AF-12F1-FEF8-73C1A3578997}"/>
                  </a:ext>
                </a:extLst>
              </p:cNvPr>
              <p:cNvSpPr txBox="1">
                <a:spLocks noRot="1" noChangeAspect="1" noMove="1" noResize="1" noEditPoints="1" noAdjustHandles="1" noChangeArrowheads="1" noChangeShapeType="1" noTextEdit="1"/>
              </p:cNvSpPr>
              <p:nvPr/>
            </p:nvSpPr>
            <p:spPr>
              <a:xfrm>
                <a:off x="381000" y="1371600"/>
                <a:ext cx="8458200" cy="3832396"/>
              </a:xfrm>
              <a:prstGeom prst="rect">
                <a:avLst/>
              </a:prstGeom>
              <a:blipFill>
                <a:blip r:embed="rId2"/>
                <a:stretch>
                  <a:fillRect l="-793" t="-795" r="-721" b="-1908"/>
                </a:stretch>
              </a:blipFill>
            </p:spPr>
            <p:txBody>
              <a:bodyPr/>
              <a:lstStyle/>
              <a:p>
                <a:r>
                  <a:rPr lang="en-IN">
                    <a:noFill/>
                  </a:rPr>
                  <a:t> </a:t>
                </a:r>
              </a:p>
            </p:txBody>
          </p:sp>
        </mc:Fallback>
      </mc:AlternateContent>
      <p:pic>
        <p:nvPicPr>
          <p:cNvPr id="4" name="object 3">
            <a:extLst>
              <a:ext uri="{FF2B5EF4-FFF2-40B4-BE49-F238E27FC236}">
                <a16:creationId xmlns:a16="http://schemas.microsoft.com/office/drawing/2014/main" id="{78DFE074-DE6C-7BA1-B5BB-1F8B857A61D1}"/>
              </a:ext>
            </a:extLst>
          </p:cNvPr>
          <p:cNvPicPr/>
          <p:nvPr/>
        </p:nvPicPr>
        <p:blipFill>
          <a:blip r:embed="rId3" cstate="print"/>
          <a:stretch>
            <a:fillRect/>
          </a:stretch>
        </p:blipFill>
        <p:spPr>
          <a:xfrm>
            <a:off x="6804025" y="0"/>
            <a:ext cx="2339975" cy="935037"/>
          </a:xfrm>
          <a:prstGeom prst="rect">
            <a:avLst/>
          </a:prstGeom>
        </p:spPr>
      </p:pic>
      <p:sp>
        <p:nvSpPr>
          <p:cNvPr id="2" name="object 2">
            <a:extLst>
              <a:ext uri="{FF2B5EF4-FFF2-40B4-BE49-F238E27FC236}">
                <a16:creationId xmlns:a16="http://schemas.microsoft.com/office/drawing/2014/main" id="{34535D62-E614-2B73-B782-1A6407AF3CD4}"/>
              </a:ext>
            </a:extLst>
          </p:cNvPr>
          <p:cNvSpPr txBox="1">
            <a:spLocks/>
          </p:cNvSpPr>
          <p:nvPr/>
        </p:nvSpPr>
        <p:spPr>
          <a:xfrm>
            <a:off x="329590" y="554035"/>
            <a:ext cx="8484819" cy="762003"/>
          </a:xfrm>
          <a:prstGeom prst="rect">
            <a:avLst/>
          </a:prstGeom>
        </p:spPr>
        <p:txBody>
          <a:bodyPr vert="horz" wrap="square" lIns="0" tIns="327914" rIns="0" bIns="0" rtlCol="0">
            <a:spAutoFit/>
          </a:bodyPr>
          <a:lstStyle>
            <a:lvl1pPr>
              <a:defRPr>
                <a:latin typeface="+mj-lt"/>
                <a:ea typeface="+mj-ea"/>
                <a:cs typeface="+mj-cs"/>
              </a:defRPr>
            </a:lvl1pPr>
          </a:lstStyle>
          <a:p>
            <a:pPr marL="3219450">
              <a:spcBef>
                <a:spcPts val="95"/>
              </a:spcBef>
            </a:pPr>
            <a:r>
              <a:rPr lang="en-IN" sz="2800" b="1">
                <a:solidFill>
                  <a:srgbClr val="000000"/>
                </a:solidFill>
                <a:latin typeface="Times New Roman" panose="02020603050405020304" pitchFamily="18" charset="0"/>
                <a:cs typeface="Times New Roman" panose="02020603050405020304" pitchFamily="18" charset="0"/>
              </a:rPr>
              <a:t>Algorithm</a:t>
            </a:r>
            <a:r>
              <a:rPr lang="en-IN" sz="2800" b="1" spc="-110">
                <a:solidFill>
                  <a:srgbClr val="000000"/>
                </a:solidFill>
                <a:latin typeface="Times New Roman" panose="02020603050405020304" pitchFamily="18" charset="0"/>
                <a:cs typeface="Times New Roman" panose="02020603050405020304" pitchFamily="18" charset="0"/>
              </a:rPr>
              <a:t> </a:t>
            </a:r>
            <a:r>
              <a:rPr lang="en-IN" sz="2800" b="1" spc="-25">
                <a:solidFill>
                  <a:srgbClr val="000000"/>
                </a:solidFill>
                <a:latin typeface="Times New Roman" panose="02020603050405020304" pitchFamily="18" charset="0"/>
                <a:cs typeface="Times New Roman" panose="02020603050405020304" pitchFamily="18" charset="0"/>
              </a:rPr>
              <a:t>(s)</a:t>
            </a:r>
            <a:endParaRPr lang="en-IN" sz="2800" b="1" spc="-25"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121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AEB9A5D-18EC-F2A4-3430-4D2596605D64}"/>
                  </a:ext>
                </a:extLst>
              </p:cNvPr>
              <p:cNvSpPr txBox="1"/>
              <p:nvPr/>
            </p:nvSpPr>
            <p:spPr>
              <a:xfrm>
                <a:off x="381000" y="1371600"/>
                <a:ext cx="8382000" cy="3170099"/>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Algorithm 2:</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Closed-Loop Semi-Supervised Incremental Learning</a:t>
                </a:r>
              </a:p>
              <a:p>
                <a:pPr algn="just">
                  <a:buNone/>
                </a:pPr>
                <a:r>
                  <a:rPr lang="en-IN" sz="2000" dirty="0">
                    <a:latin typeface="Times New Roman" panose="02020603050405020304" pitchFamily="18" charset="0"/>
                    <a:cs typeface="Times New Roman" panose="02020603050405020304" pitchFamily="18" charset="0"/>
                  </a:rPr>
                  <a:t>The framework operates as a continuous feedback loop where streaming data, selective querying, and model updates influence each other. Newly queried labels incrementally update the main RBF learner and both teacher models, while unlabelled data continues to contribute through semi-supervised learning. This process repeats for each data chunk, enabling continuous learning without retraining from scratch.</a:t>
                </a:r>
              </a:p>
              <a:p>
                <a:pPr>
                  <a:buNone/>
                </a:pPr>
                <a:endParaRPr lang="en-IN" sz="2000"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𝐿</m:t>
                          </m:r>
                        </m:e>
                        <m:sub>
                          <m:r>
                            <a:rPr lang="ar-AE" sz="2000" i="1">
                              <a:latin typeface="Cambria Math" panose="02040503050406030204" pitchFamily="18" charset="0"/>
                            </a:rPr>
                            <m:t>𝑡</m:t>
                          </m:r>
                          <m:r>
                            <a:rPr lang="ar-AE" sz="2000" i="0">
                              <a:latin typeface="Cambria Math" panose="02040503050406030204" pitchFamily="18" charset="0"/>
                            </a:rPr>
                            <m:t>+</m:t>
                          </m:r>
                          <m:r>
                            <a:rPr lang="ar-AE" sz="2000" i="0">
                              <a:latin typeface="Cambria Math" panose="02040503050406030204" pitchFamily="18" charset="0"/>
                            </a:rPr>
                            <m:t>1</m:t>
                          </m:r>
                        </m:sub>
                      </m:sSub>
                      <m:r>
                        <a:rPr lang="ar-AE" sz="2000" i="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𝐿</m:t>
                          </m:r>
                        </m:e>
                        <m:sub>
                          <m:r>
                            <a:rPr lang="ar-AE" sz="2000" i="1">
                              <a:latin typeface="Cambria Math" panose="02040503050406030204" pitchFamily="18" charset="0"/>
                            </a:rPr>
                            <m:t>𝑡</m:t>
                          </m:r>
                        </m:sub>
                      </m:sSub>
                      <m:r>
                        <a:rPr lang="ar-AE" sz="2000" i="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𝑄</m:t>
                          </m:r>
                        </m:e>
                        <m:sub>
                          <m:r>
                            <a:rPr lang="ar-AE" sz="2000" i="1">
                              <a:latin typeface="Cambria Math" panose="02040503050406030204" pitchFamily="18" charset="0"/>
                            </a:rPr>
                            <m:t>𝑡</m:t>
                          </m:r>
                        </m:sub>
                      </m:sSub>
                      <m:r>
                        <a:rPr lang="ar-AE" sz="2000" i="0">
                          <a:latin typeface="Cambria Math" panose="02040503050406030204" pitchFamily="18" charset="0"/>
                        </a:rPr>
                        <m:t>, </m:t>
                      </m:r>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𝑡</m:t>
                          </m:r>
                          <m:r>
                            <a:rPr lang="ar-AE" sz="2000" i="0">
                              <a:latin typeface="Cambria Math" panose="02040503050406030204" pitchFamily="18" charset="0"/>
                            </a:rPr>
                            <m:t>+</m:t>
                          </m:r>
                          <m:r>
                            <a:rPr lang="ar-AE" sz="2000" i="0">
                              <a:latin typeface="Cambria Math" panose="02040503050406030204" pitchFamily="18" charset="0"/>
                            </a:rPr>
                            <m:t>1</m:t>
                          </m:r>
                        </m:sub>
                      </m:sSub>
                      <m:r>
                        <a:rPr lang="ar-AE" sz="2000" i="0">
                          <a:latin typeface="Cambria Math" panose="02040503050406030204" pitchFamily="18" charset="0"/>
                        </a:rPr>
                        <m:t>=</m:t>
                      </m:r>
                      <m:r>
                        <m:rPr>
                          <m:nor/>
                        </m:rPr>
                        <a:rPr lang="en-IN" sz="2000" b="0" i="1">
                          <a:latin typeface="Times New Roman" panose="02020603050405020304" pitchFamily="18" charset="0"/>
                          <a:cs typeface="Times New Roman" panose="02020603050405020304" pitchFamily="18" charset="0"/>
                        </a:rPr>
                        <m:t>IncrementalUpdate</m:t>
                      </m:r>
                      <m:d>
                        <m:dPr>
                          <m:sepChr m:val=","/>
                          <m:ctrlPr>
                            <a:rPr lang="ar-AE" sz="2000" b="0" i="1">
                              <a:latin typeface="Cambria Math" panose="02040503050406030204" pitchFamily="18" charset="0"/>
                            </a:rPr>
                          </m:ctrlPr>
                        </m:dPr>
                        <m:e>
                          <m:sSub>
                            <m:sSubPr>
                              <m:ctrlPr>
                                <a:rPr lang="ar-AE" sz="2000" b="0" i="1">
                                  <a:latin typeface="Cambria Math" panose="02040503050406030204" pitchFamily="18" charset="0"/>
                                </a:rPr>
                              </m:ctrlPr>
                            </m:sSubPr>
                            <m:e>
                              <m:r>
                                <a:rPr lang="ar-AE" sz="2000" b="0" i="1">
                                  <a:latin typeface="Cambria Math" panose="02040503050406030204" pitchFamily="18" charset="0"/>
                                </a:rPr>
                                <m:t>𝑓</m:t>
                              </m:r>
                            </m:e>
                            <m:sub>
                              <m:r>
                                <a:rPr lang="ar-AE" sz="2000" b="0" i="1">
                                  <a:latin typeface="Cambria Math" panose="02040503050406030204" pitchFamily="18" charset="0"/>
                                </a:rPr>
                                <m:t>𝑡</m:t>
                              </m:r>
                            </m:sub>
                          </m:sSub>
                        </m:e>
                        <m:e>
                          <m:sSub>
                            <m:sSubPr>
                              <m:ctrlPr>
                                <a:rPr lang="ar-AE" sz="2000" b="0" i="1">
                                  <a:latin typeface="Cambria Math" panose="02040503050406030204" pitchFamily="18" charset="0"/>
                                </a:rPr>
                              </m:ctrlPr>
                            </m:sSubPr>
                            <m:e>
                              <m:r>
                                <a:rPr lang="ar-AE" sz="2000" b="0" i="1">
                                  <a:latin typeface="Cambria Math" panose="02040503050406030204" pitchFamily="18" charset="0"/>
                                </a:rPr>
                                <m:t>𝐿</m:t>
                              </m:r>
                            </m:e>
                            <m:sub>
                              <m:r>
                                <a:rPr lang="ar-AE" sz="2000" b="0" i="1">
                                  <a:latin typeface="Cambria Math" panose="02040503050406030204" pitchFamily="18" charset="0"/>
                                </a:rPr>
                                <m:t>𝑡</m:t>
                              </m:r>
                              <m:r>
                                <a:rPr lang="ar-AE" sz="2000" b="0" i="0">
                                  <a:latin typeface="Cambria Math" panose="02040503050406030204" pitchFamily="18" charset="0"/>
                                </a:rPr>
                                <m:t>+</m:t>
                              </m:r>
                              <m:r>
                                <a:rPr lang="ar-AE" sz="2000" b="0" i="0">
                                  <a:latin typeface="Cambria Math" panose="02040503050406030204" pitchFamily="18" charset="0"/>
                                </a:rPr>
                                <m:t>1</m:t>
                              </m:r>
                            </m:sub>
                          </m:sSub>
                        </m:e>
                      </m:d>
                    </m:oMath>
                  </m:oMathPara>
                </a14:m>
                <a:endParaRPr lang="ar-AE" sz="2000" b="0" dirty="0">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0AEB9A5D-18EC-F2A4-3430-4D2596605D64}"/>
                  </a:ext>
                </a:extLst>
              </p:cNvPr>
              <p:cNvSpPr txBox="1">
                <a:spLocks noRot="1" noChangeAspect="1" noMove="1" noResize="1" noEditPoints="1" noAdjustHandles="1" noChangeArrowheads="1" noChangeShapeType="1" noTextEdit="1"/>
              </p:cNvSpPr>
              <p:nvPr/>
            </p:nvSpPr>
            <p:spPr>
              <a:xfrm>
                <a:off x="381000" y="1371600"/>
                <a:ext cx="8382000" cy="3170099"/>
              </a:xfrm>
              <a:prstGeom prst="rect">
                <a:avLst/>
              </a:prstGeom>
              <a:blipFill>
                <a:blip r:embed="rId2"/>
                <a:stretch>
                  <a:fillRect l="-800" t="-962" r="-727" b="-1154"/>
                </a:stretch>
              </a:blipFill>
            </p:spPr>
            <p:txBody>
              <a:bodyPr/>
              <a:lstStyle/>
              <a:p>
                <a:r>
                  <a:rPr lang="en-IN">
                    <a:noFill/>
                  </a:rPr>
                  <a:t> </a:t>
                </a:r>
              </a:p>
            </p:txBody>
          </p:sp>
        </mc:Fallback>
      </mc:AlternateContent>
      <p:pic>
        <p:nvPicPr>
          <p:cNvPr id="4" name="object 3">
            <a:extLst>
              <a:ext uri="{FF2B5EF4-FFF2-40B4-BE49-F238E27FC236}">
                <a16:creationId xmlns:a16="http://schemas.microsoft.com/office/drawing/2014/main" id="{4490BCFE-490C-3C45-BD08-A23FB76A84B7}"/>
              </a:ext>
            </a:extLst>
          </p:cNvPr>
          <p:cNvPicPr/>
          <p:nvPr/>
        </p:nvPicPr>
        <p:blipFill>
          <a:blip r:embed="rId3" cstate="print"/>
          <a:stretch>
            <a:fillRect/>
          </a:stretch>
        </p:blipFill>
        <p:spPr>
          <a:xfrm>
            <a:off x="6804025" y="0"/>
            <a:ext cx="2339975" cy="935037"/>
          </a:xfrm>
          <a:prstGeom prst="rect">
            <a:avLst/>
          </a:prstGeom>
        </p:spPr>
      </p:pic>
      <p:sp>
        <p:nvSpPr>
          <p:cNvPr id="5" name="object 2">
            <a:extLst>
              <a:ext uri="{FF2B5EF4-FFF2-40B4-BE49-F238E27FC236}">
                <a16:creationId xmlns:a16="http://schemas.microsoft.com/office/drawing/2014/main" id="{9C37B0FF-EA4F-69EE-A948-27C25B5FA6C6}"/>
              </a:ext>
            </a:extLst>
          </p:cNvPr>
          <p:cNvSpPr txBox="1">
            <a:spLocks/>
          </p:cNvSpPr>
          <p:nvPr/>
        </p:nvSpPr>
        <p:spPr>
          <a:xfrm>
            <a:off x="329590" y="554035"/>
            <a:ext cx="8484819" cy="762003"/>
          </a:xfrm>
          <a:prstGeom prst="rect">
            <a:avLst/>
          </a:prstGeom>
        </p:spPr>
        <p:txBody>
          <a:bodyPr vert="horz" wrap="square" lIns="0" tIns="327914" rIns="0" bIns="0" rtlCol="0">
            <a:spAutoFit/>
          </a:bodyPr>
          <a:lstStyle>
            <a:lvl1pPr>
              <a:defRPr>
                <a:latin typeface="+mj-lt"/>
                <a:ea typeface="+mj-ea"/>
                <a:cs typeface="+mj-cs"/>
              </a:defRPr>
            </a:lvl1pPr>
          </a:lstStyle>
          <a:p>
            <a:pPr marL="3219450">
              <a:spcBef>
                <a:spcPts val="95"/>
              </a:spcBef>
            </a:pPr>
            <a:r>
              <a:rPr lang="en-IN" sz="2800" b="1">
                <a:solidFill>
                  <a:srgbClr val="000000"/>
                </a:solidFill>
                <a:latin typeface="Times New Roman" panose="02020603050405020304" pitchFamily="18" charset="0"/>
                <a:cs typeface="Times New Roman" panose="02020603050405020304" pitchFamily="18" charset="0"/>
              </a:rPr>
              <a:t>Algorithm</a:t>
            </a:r>
            <a:r>
              <a:rPr lang="en-IN" sz="2800" b="1" spc="-110">
                <a:solidFill>
                  <a:srgbClr val="000000"/>
                </a:solidFill>
                <a:latin typeface="Times New Roman" panose="02020603050405020304" pitchFamily="18" charset="0"/>
                <a:cs typeface="Times New Roman" panose="02020603050405020304" pitchFamily="18" charset="0"/>
              </a:rPr>
              <a:t> </a:t>
            </a:r>
            <a:r>
              <a:rPr lang="en-IN" sz="2800" b="1" spc="-25">
                <a:solidFill>
                  <a:srgbClr val="000000"/>
                </a:solidFill>
                <a:latin typeface="Times New Roman" panose="02020603050405020304" pitchFamily="18" charset="0"/>
                <a:cs typeface="Times New Roman" panose="02020603050405020304" pitchFamily="18" charset="0"/>
              </a:rPr>
              <a:t>(s)</a:t>
            </a:r>
            <a:endParaRPr lang="en-IN" sz="2800" b="1" spc="-25"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2911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a:extLst>
              <a:ext uri="{FF2B5EF4-FFF2-40B4-BE49-F238E27FC236}">
                <a16:creationId xmlns:a16="http://schemas.microsoft.com/office/drawing/2014/main" id="{79FFD15A-5300-079C-F3B4-55A98570732D}"/>
              </a:ext>
            </a:extLst>
          </p:cNvPr>
          <p:cNvPicPr/>
          <p:nvPr/>
        </p:nvPicPr>
        <p:blipFill>
          <a:blip r:embed="rId2" cstate="print"/>
          <a:stretch>
            <a:fillRect/>
          </a:stretch>
        </p:blipFill>
        <p:spPr>
          <a:xfrm>
            <a:off x="6804025" y="0"/>
            <a:ext cx="2339975" cy="935037"/>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14D9E94-8793-6852-C006-AAB61DDAB5FF}"/>
                  </a:ext>
                </a:extLst>
              </p:cNvPr>
              <p:cNvSpPr txBox="1"/>
              <p:nvPr/>
            </p:nvSpPr>
            <p:spPr>
              <a:xfrm>
                <a:off x="381000" y="1371600"/>
                <a:ext cx="8382000" cy="2862322"/>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Algorithm 3:</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Implicit Concept Drift Adaptation via Disagreement</a:t>
                </a:r>
              </a:p>
              <a:p>
                <a:pPr algn="just">
                  <a:buNone/>
                </a:pPr>
                <a:r>
                  <a:rPr lang="en-IN" sz="2000" dirty="0">
                    <a:latin typeface="Times New Roman" panose="02020603050405020304" pitchFamily="18" charset="0"/>
                    <a:cs typeface="Times New Roman" panose="02020603050405020304" pitchFamily="18" charset="0"/>
                  </a:rPr>
                  <a:t>Concept drift is handled implicitly by monitoring disagreement. As data distributions change, prediction inconsistency increases, leading to higher disagreement scores and more label queries in drift-affected regions. Incremental updates then allow the model to adapt naturally, without explicit drift detectors or thresholds.</a:t>
                </a:r>
              </a:p>
              <a:p>
                <a:pPr>
                  <a:buNone/>
                </a:pPr>
                <a:endParaRPr lang="en-IN" sz="2000"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m:rPr>
                          <m:nor/>
                        </m:rPr>
                        <a:rPr lang="en-IN" sz="2000" b="0">
                          <a:latin typeface="Times New Roman" panose="02020603050405020304" pitchFamily="18" charset="0"/>
                          <a:cs typeface="Times New Roman" panose="02020603050405020304" pitchFamily="18" charset="0"/>
                        </a:rPr>
                        <m:t>Drift</m:t>
                      </m:r>
                      <m:r>
                        <a:rPr lang="en-IN" sz="2000" b="0" i="0">
                          <a:latin typeface="Cambria Math" panose="02040503050406030204" pitchFamily="18" charset="0"/>
                        </a:rPr>
                        <m:t>⇒↑</m:t>
                      </m:r>
                      <m:sSub>
                        <m:sSubPr>
                          <m:ctrlPr>
                            <a:rPr lang="ar-AE" sz="2000" b="0" i="1">
                              <a:latin typeface="Cambria Math" panose="02040503050406030204" pitchFamily="18" charset="0"/>
                            </a:rPr>
                          </m:ctrlPr>
                        </m:sSubPr>
                        <m:e>
                          <m:r>
                            <a:rPr lang="ar-AE" sz="2000" b="0" i="1">
                              <a:latin typeface="Cambria Math" panose="02040503050406030204" pitchFamily="18" charset="0"/>
                            </a:rPr>
                            <m:t>𝐷</m:t>
                          </m:r>
                        </m:e>
                        <m:sub>
                          <m:r>
                            <a:rPr lang="ar-AE" sz="2000" b="0" i="1">
                              <a:latin typeface="Cambria Math" panose="02040503050406030204" pitchFamily="18" charset="0"/>
                            </a:rPr>
                            <m:t>𝑡𝑜𝑡𝑎𝑙</m:t>
                          </m:r>
                        </m:sub>
                      </m:sSub>
                      <m:d>
                        <m:dPr>
                          <m:ctrlPr>
                            <a:rPr lang="ar-AE" sz="2000" b="0" i="1">
                              <a:latin typeface="Cambria Math" panose="02040503050406030204" pitchFamily="18" charset="0"/>
                            </a:rPr>
                          </m:ctrlPr>
                        </m:dPr>
                        <m:e>
                          <m:r>
                            <a:rPr lang="ar-AE" sz="2000" b="0" i="1">
                              <a:latin typeface="Cambria Math" panose="02040503050406030204" pitchFamily="18" charset="0"/>
                            </a:rPr>
                            <m:t>𝑥</m:t>
                          </m:r>
                        </m:e>
                      </m:d>
                      <m:r>
                        <a:rPr lang="ar-AE" sz="2000" b="0" i="0">
                          <a:latin typeface="Cambria Math" panose="02040503050406030204" pitchFamily="18" charset="0"/>
                        </a:rPr>
                        <m:t>⇒↑</m:t>
                      </m:r>
                      <m:r>
                        <m:rPr>
                          <m:nor/>
                        </m:rPr>
                        <a:rPr lang="en-IN" sz="2000" b="0" i="1">
                          <a:latin typeface="Times New Roman" panose="02020603050405020304" pitchFamily="18" charset="0"/>
                          <a:cs typeface="Times New Roman" panose="02020603050405020304" pitchFamily="18" charset="0"/>
                        </a:rPr>
                        <m:t>Label</m:t>
                      </m:r>
                      <m:r>
                        <m:rPr>
                          <m:nor/>
                        </m:rPr>
                        <a:rPr lang="en-IN" sz="2000" b="0" i="1">
                          <a:latin typeface="Times New Roman" panose="02020603050405020304" pitchFamily="18" charset="0"/>
                          <a:cs typeface="Times New Roman" panose="02020603050405020304" pitchFamily="18" charset="0"/>
                        </a:rPr>
                        <m:t> </m:t>
                      </m:r>
                      <m:r>
                        <m:rPr>
                          <m:nor/>
                        </m:rPr>
                        <a:rPr lang="en-IN" sz="2000" b="0" i="1">
                          <a:latin typeface="Times New Roman" panose="02020603050405020304" pitchFamily="18" charset="0"/>
                          <a:cs typeface="Times New Roman" panose="02020603050405020304" pitchFamily="18" charset="0"/>
                        </a:rPr>
                        <m:t>Queries</m:t>
                      </m:r>
                    </m:oMath>
                  </m:oMathPara>
                </a14:m>
                <a:endParaRPr lang="en-IN" sz="2000" b="0" dirty="0">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114D9E94-8793-6852-C006-AAB61DDAB5FF}"/>
                  </a:ext>
                </a:extLst>
              </p:cNvPr>
              <p:cNvSpPr txBox="1">
                <a:spLocks noRot="1" noChangeAspect="1" noMove="1" noResize="1" noEditPoints="1" noAdjustHandles="1" noChangeArrowheads="1" noChangeShapeType="1" noTextEdit="1"/>
              </p:cNvSpPr>
              <p:nvPr/>
            </p:nvSpPr>
            <p:spPr>
              <a:xfrm>
                <a:off x="381000" y="1371600"/>
                <a:ext cx="8382000" cy="2862322"/>
              </a:xfrm>
              <a:prstGeom prst="rect">
                <a:avLst/>
              </a:prstGeom>
              <a:blipFill>
                <a:blip r:embed="rId3"/>
                <a:stretch>
                  <a:fillRect l="-800" t="-1064" r="-727" b="-1277"/>
                </a:stretch>
              </a:blipFill>
            </p:spPr>
            <p:txBody>
              <a:bodyPr/>
              <a:lstStyle/>
              <a:p>
                <a:r>
                  <a:rPr lang="en-IN">
                    <a:noFill/>
                  </a:rPr>
                  <a:t> </a:t>
                </a:r>
              </a:p>
            </p:txBody>
          </p:sp>
        </mc:Fallback>
      </mc:AlternateContent>
      <p:sp>
        <p:nvSpPr>
          <p:cNvPr id="5" name="object 2">
            <a:extLst>
              <a:ext uri="{FF2B5EF4-FFF2-40B4-BE49-F238E27FC236}">
                <a16:creationId xmlns:a16="http://schemas.microsoft.com/office/drawing/2014/main" id="{F7F30660-7C61-2082-3029-1CF6F3B5744E}"/>
              </a:ext>
            </a:extLst>
          </p:cNvPr>
          <p:cNvSpPr txBox="1">
            <a:spLocks/>
          </p:cNvSpPr>
          <p:nvPr/>
        </p:nvSpPr>
        <p:spPr>
          <a:xfrm>
            <a:off x="329590" y="554035"/>
            <a:ext cx="8484819" cy="762003"/>
          </a:xfrm>
          <a:prstGeom prst="rect">
            <a:avLst/>
          </a:prstGeom>
        </p:spPr>
        <p:txBody>
          <a:bodyPr vert="horz" wrap="square" lIns="0" tIns="327914" rIns="0" bIns="0" rtlCol="0">
            <a:spAutoFit/>
          </a:bodyPr>
          <a:lstStyle>
            <a:lvl1pPr>
              <a:defRPr>
                <a:latin typeface="+mj-lt"/>
                <a:ea typeface="+mj-ea"/>
                <a:cs typeface="+mj-cs"/>
              </a:defRPr>
            </a:lvl1pPr>
          </a:lstStyle>
          <a:p>
            <a:pPr marL="3219450">
              <a:spcBef>
                <a:spcPts val="95"/>
              </a:spcBef>
            </a:pPr>
            <a:r>
              <a:rPr lang="en-IN" sz="2800" b="1">
                <a:solidFill>
                  <a:srgbClr val="000000"/>
                </a:solidFill>
                <a:latin typeface="Times New Roman" panose="02020603050405020304" pitchFamily="18" charset="0"/>
                <a:cs typeface="Times New Roman" panose="02020603050405020304" pitchFamily="18" charset="0"/>
              </a:rPr>
              <a:t>Algorithm</a:t>
            </a:r>
            <a:r>
              <a:rPr lang="en-IN" sz="2800" b="1" spc="-110">
                <a:solidFill>
                  <a:srgbClr val="000000"/>
                </a:solidFill>
                <a:latin typeface="Times New Roman" panose="02020603050405020304" pitchFamily="18" charset="0"/>
                <a:cs typeface="Times New Roman" panose="02020603050405020304" pitchFamily="18" charset="0"/>
              </a:rPr>
              <a:t> </a:t>
            </a:r>
            <a:r>
              <a:rPr lang="en-IN" sz="2800" b="1" spc="-25">
                <a:solidFill>
                  <a:srgbClr val="000000"/>
                </a:solidFill>
                <a:latin typeface="Times New Roman" panose="02020603050405020304" pitchFamily="18" charset="0"/>
                <a:cs typeface="Times New Roman" panose="02020603050405020304" pitchFamily="18" charset="0"/>
              </a:rPr>
              <a:t>(s)</a:t>
            </a:r>
            <a:endParaRPr lang="en-IN" sz="2800" b="1" spc="-25"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6233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74667" y="1308371"/>
            <a:ext cx="8394665" cy="2505173"/>
          </a:xfrm>
          <a:prstGeom prst="rect">
            <a:avLst/>
          </a:prstGeom>
        </p:spPr>
        <p:txBody>
          <a:bodyPr vert="horz" wrap="square" lIns="0" tIns="12065" rIns="0" bIns="0" rtlCol="0">
            <a:spAutoFit/>
          </a:bodyPr>
          <a:lstStyle/>
          <a:p>
            <a:pPr marL="354965" indent="-342265" algn="just">
              <a:lnSpc>
                <a:spcPct val="100000"/>
              </a:lnSpc>
              <a:spcBef>
                <a:spcPts val="5"/>
              </a:spcBef>
              <a:buFont typeface="Arial MT"/>
              <a:buChar char="•"/>
              <a:tabLst>
                <a:tab pos="354965" algn="l"/>
              </a:tabLst>
            </a:pPr>
            <a:r>
              <a:rPr b="1" spc="-10" dirty="0">
                <a:latin typeface="Times New Roman" panose="02020603050405020304" pitchFamily="18" charset="0"/>
                <a:cs typeface="Times New Roman" panose="02020603050405020304" pitchFamily="18" charset="0"/>
              </a:rPr>
              <a:t>Objective-</a:t>
            </a:r>
            <a:r>
              <a:rPr b="1" spc="-50" dirty="0">
                <a:latin typeface="Times New Roman" panose="02020603050405020304" pitchFamily="18" charset="0"/>
                <a:cs typeface="Times New Roman" panose="02020603050405020304" pitchFamily="18" charset="0"/>
              </a:rPr>
              <a:t>1</a:t>
            </a:r>
            <a:endParaRPr lang="en-IN" b="1" spc="-50" dirty="0">
              <a:latin typeface="Times New Roman" panose="02020603050405020304" pitchFamily="18" charset="0"/>
              <a:cs typeface="Times New Roman" panose="02020603050405020304" pitchFamily="18" charset="0"/>
            </a:endParaRPr>
          </a:p>
          <a:p>
            <a:pPr marL="12700" algn="just">
              <a:lnSpc>
                <a:spcPct val="100000"/>
              </a:lnSpc>
              <a:spcBef>
                <a:spcPts val="5"/>
              </a:spcBef>
              <a:tabLst>
                <a:tab pos="354965" algn="l"/>
              </a:tabLst>
            </a:pPr>
            <a:r>
              <a:rPr lang="en-US" b="1" dirty="0">
                <a:latin typeface="Times New Roman" panose="02020603050405020304" pitchFamily="18" charset="0"/>
                <a:cs typeface="Times New Roman" panose="02020603050405020304" pitchFamily="18" charset="0"/>
              </a:rPr>
              <a:t>To demonstrate closed-loop learning behavior and model adaptation across streaming data chunks</a:t>
            </a:r>
          </a:p>
          <a:p>
            <a:pPr marL="12700" algn="just">
              <a:lnSpc>
                <a:spcPct val="100000"/>
              </a:lnSpc>
              <a:spcBef>
                <a:spcPts val="5"/>
              </a:spcBef>
              <a:tabLst>
                <a:tab pos="354965" algn="l"/>
              </a:tabLst>
            </a:pPr>
            <a:endParaRPr lang="en-US" b="1"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Implementation Details</a:t>
            </a:r>
          </a:p>
          <a:p>
            <a:pPr marL="342900" indent="-342900" algn="just">
              <a:buFont typeface="+mj-lt"/>
              <a:buAutoNum type="arabicPeriod"/>
            </a:pPr>
            <a:r>
              <a:rPr lang="en-IN" dirty="0">
                <a:latin typeface="Times New Roman" panose="02020603050405020304" pitchFamily="18" charset="0"/>
                <a:cs typeface="Times New Roman" panose="02020603050405020304" pitchFamily="18" charset="0"/>
              </a:rPr>
              <a:t>Chunk-wise streaming data processing</a:t>
            </a:r>
          </a:p>
          <a:p>
            <a:pPr marL="342900" indent="-342900" algn="just">
              <a:buFont typeface="+mj-lt"/>
              <a:buAutoNum type="arabicPeriod"/>
            </a:pPr>
            <a:r>
              <a:rPr lang="en-IN" dirty="0">
                <a:latin typeface="Times New Roman" panose="02020603050405020304" pitchFamily="18" charset="0"/>
                <a:cs typeface="Times New Roman" panose="02020603050405020304" pitchFamily="18" charset="0"/>
              </a:rPr>
              <a:t>Incremental </a:t>
            </a:r>
            <a:r>
              <a:rPr lang="en-IN" b="1" dirty="0">
                <a:latin typeface="Times New Roman" panose="02020603050405020304" pitchFamily="18" charset="0"/>
                <a:cs typeface="Times New Roman" panose="02020603050405020304" pitchFamily="18" charset="0"/>
              </a:rPr>
              <a:t>RBF neural network</a:t>
            </a:r>
            <a:r>
              <a:rPr lang="en-IN" dirty="0">
                <a:latin typeface="Times New Roman" panose="02020603050405020304" pitchFamily="18" charset="0"/>
                <a:cs typeface="Times New Roman" panose="02020603050405020304" pitchFamily="18" charset="0"/>
              </a:rPr>
              <a:t> training</a:t>
            </a:r>
          </a:p>
          <a:p>
            <a:pPr marL="342900" indent="-342900" algn="just">
              <a:buFont typeface="+mj-lt"/>
              <a:buAutoNum type="arabicPeriod"/>
            </a:pPr>
            <a:r>
              <a:rPr lang="en-IN" dirty="0">
                <a:latin typeface="Times New Roman" panose="02020603050405020304" pitchFamily="18" charset="0"/>
                <a:cs typeface="Times New Roman" panose="02020603050405020304" pitchFamily="18" charset="0"/>
              </a:rPr>
              <a:t>Dual teachers: </a:t>
            </a:r>
            <a:r>
              <a:rPr lang="en-IN" b="1" dirty="0">
                <a:latin typeface="Times New Roman" panose="02020603050405020304" pitchFamily="18" charset="0"/>
                <a:cs typeface="Times New Roman" panose="02020603050405020304" pitchFamily="18" charset="0"/>
              </a:rPr>
              <a:t>KNN (local)</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RBF (global)</a:t>
            </a:r>
            <a:endParaRPr lang="en-IN"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IN" dirty="0">
                <a:latin typeface="Times New Roman" panose="02020603050405020304" pitchFamily="18" charset="0"/>
                <a:cs typeface="Times New Roman" panose="02020603050405020304" pitchFamily="18" charset="0"/>
              </a:rPr>
              <a:t>Closed-loop update after each queried label</a:t>
            </a:r>
          </a:p>
        </p:txBody>
      </p:sp>
      <p:pic>
        <p:nvPicPr>
          <p:cNvPr id="3" name="object 3"/>
          <p:cNvPicPr/>
          <p:nvPr/>
        </p:nvPicPr>
        <p:blipFill>
          <a:blip r:embed="rId2" cstate="print"/>
          <a:stretch>
            <a:fillRect/>
          </a:stretch>
        </p:blipFill>
        <p:spPr>
          <a:xfrm>
            <a:off x="6804025" y="-63"/>
            <a:ext cx="2339975" cy="935037"/>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12</a:t>
            </a:fld>
            <a:endParaRPr spc="-25" dirty="0"/>
          </a:p>
        </p:txBody>
      </p:sp>
      <p:sp>
        <p:nvSpPr>
          <p:cNvPr id="6" name="TextBox 5">
            <a:extLst>
              <a:ext uri="{FF2B5EF4-FFF2-40B4-BE49-F238E27FC236}">
                <a16:creationId xmlns:a16="http://schemas.microsoft.com/office/drawing/2014/main" id="{61B13582-FEBE-7183-AB4E-3E3EC7D3C724}"/>
              </a:ext>
            </a:extLst>
          </p:cNvPr>
          <p:cNvSpPr txBox="1"/>
          <p:nvPr/>
        </p:nvSpPr>
        <p:spPr>
          <a:xfrm>
            <a:off x="1866900" y="373334"/>
            <a:ext cx="5410200" cy="523220"/>
          </a:xfrm>
          <a:prstGeom prst="rect">
            <a:avLst/>
          </a:prstGeom>
          <a:noFill/>
        </p:spPr>
        <p:txBody>
          <a:bodyPr wrap="square">
            <a:spAutoFit/>
          </a:bodyPr>
          <a:lstStyle/>
          <a:p>
            <a:pPr marL="530225" algn="l">
              <a:lnSpc>
                <a:spcPct val="100000"/>
              </a:lnSpc>
              <a:spcBef>
                <a:spcPts val="95"/>
              </a:spcBef>
            </a:pPr>
            <a:r>
              <a:rPr lang="en-IN" sz="2800" b="1" dirty="0">
                <a:latin typeface="Times New Roman"/>
                <a:cs typeface="Times New Roman"/>
              </a:rPr>
              <a:t>Status</a:t>
            </a:r>
            <a:r>
              <a:rPr lang="en-IN" sz="2800" b="1" spc="-40" dirty="0">
                <a:latin typeface="Times New Roman"/>
                <a:cs typeface="Times New Roman"/>
              </a:rPr>
              <a:t> </a:t>
            </a:r>
            <a:r>
              <a:rPr lang="en-IN" sz="2800" b="1" dirty="0">
                <a:latin typeface="Times New Roman"/>
                <a:cs typeface="Times New Roman"/>
              </a:rPr>
              <a:t>of</a:t>
            </a:r>
            <a:r>
              <a:rPr lang="en-IN" sz="2800" b="1" spc="-50" dirty="0">
                <a:latin typeface="Times New Roman"/>
                <a:cs typeface="Times New Roman"/>
              </a:rPr>
              <a:t> </a:t>
            </a:r>
            <a:r>
              <a:rPr lang="en-IN" sz="2800" b="1" spc="-10" dirty="0">
                <a:latin typeface="Times New Roman"/>
                <a:cs typeface="Times New Roman"/>
              </a:rPr>
              <a:t>Implementation</a:t>
            </a:r>
            <a:endParaRPr lang="en-IN" sz="2800" dirty="0">
              <a:latin typeface="Times New Roman"/>
              <a:cs typeface="Times New Roman"/>
            </a:endParaRPr>
          </a:p>
        </p:txBody>
      </p:sp>
      <p:pic>
        <p:nvPicPr>
          <p:cNvPr id="8" name="Picture 7">
            <a:extLst>
              <a:ext uri="{FF2B5EF4-FFF2-40B4-BE49-F238E27FC236}">
                <a16:creationId xmlns:a16="http://schemas.microsoft.com/office/drawing/2014/main" id="{C8BCC703-63EC-5F10-F672-BA38DC0362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4606" y="2290741"/>
            <a:ext cx="3654726" cy="304560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B5989-120C-775B-B895-2DC5E390864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A77BA0-5F67-86CB-D063-F89EAE2D179F}"/>
              </a:ext>
            </a:extLst>
          </p:cNvPr>
          <p:cNvSpPr txBox="1"/>
          <p:nvPr/>
        </p:nvSpPr>
        <p:spPr>
          <a:xfrm>
            <a:off x="374667" y="1308371"/>
            <a:ext cx="8394665" cy="1951175"/>
          </a:xfrm>
          <a:prstGeom prst="rect">
            <a:avLst/>
          </a:prstGeom>
        </p:spPr>
        <p:txBody>
          <a:bodyPr vert="horz" wrap="square" lIns="0" tIns="12065" rIns="0" bIns="0" rtlCol="0">
            <a:spAutoFit/>
          </a:bodyPr>
          <a:lstStyle/>
          <a:p>
            <a:pPr marL="354965" indent="-342265" algn="just">
              <a:lnSpc>
                <a:spcPct val="100000"/>
              </a:lnSpc>
              <a:spcBef>
                <a:spcPts val="5"/>
              </a:spcBef>
              <a:buFont typeface="Arial MT"/>
              <a:buChar char="•"/>
              <a:tabLst>
                <a:tab pos="354965" algn="l"/>
              </a:tabLst>
            </a:pPr>
            <a:r>
              <a:rPr b="1" spc="-10" dirty="0">
                <a:latin typeface="Times New Roman" panose="02020603050405020304" pitchFamily="18" charset="0"/>
                <a:cs typeface="Times New Roman" panose="02020603050405020304" pitchFamily="18" charset="0"/>
              </a:rPr>
              <a:t>Objective-</a:t>
            </a:r>
            <a:r>
              <a:rPr lang="en-IN" b="1" spc="-50" dirty="0">
                <a:latin typeface="Times New Roman" panose="02020603050405020304" pitchFamily="18" charset="0"/>
                <a:cs typeface="Times New Roman" panose="02020603050405020304" pitchFamily="18" charset="0"/>
              </a:rPr>
              <a:t>2</a:t>
            </a:r>
          </a:p>
          <a:p>
            <a:pPr marL="12700" algn="just">
              <a:lnSpc>
                <a:spcPct val="100000"/>
              </a:lnSpc>
              <a:spcBef>
                <a:spcPts val="5"/>
              </a:spcBef>
              <a:tabLst>
                <a:tab pos="354965" algn="l"/>
              </a:tabLst>
            </a:pPr>
            <a:r>
              <a:rPr lang="en-US" b="1" dirty="0">
                <a:latin typeface="Times New Roman" panose="02020603050405020304" pitchFamily="18" charset="0"/>
                <a:cs typeface="Times New Roman" panose="02020603050405020304" pitchFamily="18" charset="0"/>
              </a:rPr>
              <a:t>To evaluate closed-loop learning using prequential accuracy</a:t>
            </a:r>
          </a:p>
          <a:p>
            <a:pPr marL="12700" algn="just">
              <a:lnSpc>
                <a:spcPct val="100000"/>
              </a:lnSpc>
              <a:spcBef>
                <a:spcPts val="5"/>
              </a:spcBef>
              <a:tabLst>
                <a:tab pos="354965" algn="l"/>
              </a:tabLst>
            </a:pPr>
            <a:endParaRPr lang="en-US" b="1"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Implementation Details</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Prequential (test-then-train) evaluation</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Accuracy tracked per chunk</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Compared RBF closed-loop, MLP closed-loop, and Random-AL</a:t>
            </a:r>
          </a:p>
        </p:txBody>
      </p:sp>
      <p:pic>
        <p:nvPicPr>
          <p:cNvPr id="3" name="object 3">
            <a:extLst>
              <a:ext uri="{FF2B5EF4-FFF2-40B4-BE49-F238E27FC236}">
                <a16:creationId xmlns:a16="http://schemas.microsoft.com/office/drawing/2014/main" id="{0A14F139-572C-446B-195A-D2DEB584FAE6}"/>
              </a:ext>
            </a:extLst>
          </p:cNvPr>
          <p:cNvPicPr/>
          <p:nvPr/>
        </p:nvPicPr>
        <p:blipFill>
          <a:blip r:embed="rId2" cstate="print"/>
          <a:stretch>
            <a:fillRect/>
          </a:stretch>
        </p:blipFill>
        <p:spPr>
          <a:xfrm>
            <a:off x="6804025" y="-63"/>
            <a:ext cx="2339975" cy="935037"/>
          </a:xfrm>
          <a:prstGeom prst="rect">
            <a:avLst/>
          </a:prstGeom>
        </p:spPr>
      </p:pic>
      <p:sp>
        <p:nvSpPr>
          <p:cNvPr id="4" name="object 4">
            <a:extLst>
              <a:ext uri="{FF2B5EF4-FFF2-40B4-BE49-F238E27FC236}">
                <a16:creationId xmlns:a16="http://schemas.microsoft.com/office/drawing/2014/main" id="{E53066BA-2430-1BE9-DAB3-CBFF054614E3}"/>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13</a:t>
            </a:fld>
            <a:endParaRPr spc="-25" dirty="0"/>
          </a:p>
        </p:txBody>
      </p:sp>
      <p:sp>
        <p:nvSpPr>
          <p:cNvPr id="6" name="TextBox 5">
            <a:extLst>
              <a:ext uri="{FF2B5EF4-FFF2-40B4-BE49-F238E27FC236}">
                <a16:creationId xmlns:a16="http://schemas.microsoft.com/office/drawing/2014/main" id="{BDFA8551-0C49-8838-1DF5-3739B40F70B8}"/>
              </a:ext>
            </a:extLst>
          </p:cNvPr>
          <p:cNvSpPr txBox="1"/>
          <p:nvPr/>
        </p:nvSpPr>
        <p:spPr>
          <a:xfrm>
            <a:off x="1866900" y="373334"/>
            <a:ext cx="5410200" cy="523220"/>
          </a:xfrm>
          <a:prstGeom prst="rect">
            <a:avLst/>
          </a:prstGeom>
          <a:noFill/>
        </p:spPr>
        <p:txBody>
          <a:bodyPr wrap="square">
            <a:spAutoFit/>
          </a:bodyPr>
          <a:lstStyle/>
          <a:p>
            <a:pPr marL="530225" algn="l">
              <a:lnSpc>
                <a:spcPct val="100000"/>
              </a:lnSpc>
              <a:spcBef>
                <a:spcPts val="95"/>
              </a:spcBef>
            </a:pPr>
            <a:r>
              <a:rPr lang="en-IN" sz="2800" b="1" dirty="0">
                <a:latin typeface="Times New Roman"/>
                <a:cs typeface="Times New Roman"/>
              </a:rPr>
              <a:t>Status</a:t>
            </a:r>
            <a:r>
              <a:rPr lang="en-IN" sz="2800" b="1" spc="-40" dirty="0">
                <a:latin typeface="Times New Roman"/>
                <a:cs typeface="Times New Roman"/>
              </a:rPr>
              <a:t> </a:t>
            </a:r>
            <a:r>
              <a:rPr lang="en-IN" sz="2800" b="1" dirty="0">
                <a:latin typeface="Times New Roman"/>
                <a:cs typeface="Times New Roman"/>
              </a:rPr>
              <a:t>of</a:t>
            </a:r>
            <a:r>
              <a:rPr lang="en-IN" sz="2800" b="1" spc="-50" dirty="0">
                <a:latin typeface="Times New Roman"/>
                <a:cs typeface="Times New Roman"/>
              </a:rPr>
              <a:t> </a:t>
            </a:r>
            <a:r>
              <a:rPr lang="en-IN" sz="2800" b="1" spc="-10" dirty="0">
                <a:latin typeface="Times New Roman"/>
                <a:cs typeface="Times New Roman"/>
              </a:rPr>
              <a:t>Implementation</a:t>
            </a:r>
            <a:endParaRPr lang="en-IN" sz="2800" dirty="0">
              <a:latin typeface="Times New Roman"/>
              <a:cs typeface="Times New Roman"/>
            </a:endParaRPr>
          </a:p>
        </p:txBody>
      </p:sp>
      <p:pic>
        <p:nvPicPr>
          <p:cNvPr id="7" name="Picture 6">
            <a:extLst>
              <a:ext uri="{FF2B5EF4-FFF2-40B4-BE49-F238E27FC236}">
                <a16:creationId xmlns:a16="http://schemas.microsoft.com/office/drawing/2014/main" id="{54C9C1AE-AEB4-3A02-C69B-AF4874350D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6242" y="3644141"/>
            <a:ext cx="6831513" cy="2732606"/>
          </a:xfrm>
          <a:prstGeom prst="rect">
            <a:avLst/>
          </a:prstGeom>
        </p:spPr>
      </p:pic>
    </p:spTree>
    <p:extLst>
      <p:ext uri="{BB962C8B-B14F-4D97-AF65-F5344CB8AC3E}">
        <p14:creationId xmlns:p14="http://schemas.microsoft.com/office/powerpoint/2010/main" val="3971777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7E712-4A53-9ACB-F25F-4CA39880FA8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1AA2E11F-9B53-BCAB-398A-CA334049CB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75907" y="3649803"/>
            <a:ext cx="6831513" cy="2732606"/>
          </a:xfrm>
          <a:prstGeom prst="rect">
            <a:avLst/>
          </a:prstGeom>
        </p:spPr>
      </p:pic>
      <p:sp>
        <p:nvSpPr>
          <p:cNvPr id="2" name="object 2">
            <a:extLst>
              <a:ext uri="{FF2B5EF4-FFF2-40B4-BE49-F238E27FC236}">
                <a16:creationId xmlns:a16="http://schemas.microsoft.com/office/drawing/2014/main" id="{D952DF16-F9E6-8FB8-1909-9E16FD1CDF4D}"/>
              </a:ext>
            </a:extLst>
          </p:cNvPr>
          <p:cNvSpPr txBox="1"/>
          <p:nvPr/>
        </p:nvSpPr>
        <p:spPr>
          <a:xfrm>
            <a:off x="374667" y="1308371"/>
            <a:ext cx="8394665" cy="2228174"/>
          </a:xfrm>
          <a:prstGeom prst="rect">
            <a:avLst/>
          </a:prstGeom>
        </p:spPr>
        <p:txBody>
          <a:bodyPr vert="horz" wrap="square" lIns="0" tIns="12065" rIns="0" bIns="0" rtlCol="0">
            <a:spAutoFit/>
          </a:bodyPr>
          <a:lstStyle/>
          <a:p>
            <a:pPr marL="354965" indent="-342265" algn="just">
              <a:lnSpc>
                <a:spcPct val="100000"/>
              </a:lnSpc>
              <a:spcBef>
                <a:spcPts val="5"/>
              </a:spcBef>
              <a:buFont typeface="Arial MT"/>
              <a:buChar char="•"/>
              <a:tabLst>
                <a:tab pos="354965" algn="l"/>
              </a:tabLst>
            </a:pPr>
            <a:r>
              <a:rPr b="1" spc="-10" dirty="0">
                <a:latin typeface="Times New Roman" panose="02020603050405020304" pitchFamily="18" charset="0"/>
                <a:cs typeface="Times New Roman" panose="02020603050405020304" pitchFamily="18" charset="0"/>
              </a:rPr>
              <a:t>Objective-</a:t>
            </a:r>
            <a:r>
              <a:rPr lang="en-IN" b="1" spc="-50" dirty="0">
                <a:latin typeface="Times New Roman" panose="02020603050405020304" pitchFamily="18" charset="0"/>
                <a:cs typeface="Times New Roman" panose="02020603050405020304" pitchFamily="18" charset="0"/>
              </a:rPr>
              <a:t>3</a:t>
            </a:r>
          </a:p>
          <a:p>
            <a:pPr marL="12700" algn="just">
              <a:lnSpc>
                <a:spcPct val="100000"/>
              </a:lnSpc>
              <a:spcBef>
                <a:spcPts val="5"/>
              </a:spcBef>
              <a:tabLst>
                <a:tab pos="354965" algn="l"/>
              </a:tabLst>
            </a:pPr>
            <a:r>
              <a:rPr lang="en-US" b="1" dirty="0">
                <a:latin typeface="Times New Roman" panose="02020603050405020304" pitchFamily="18" charset="0"/>
                <a:cs typeface="Times New Roman" panose="02020603050405020304" pitchFamily="18" charset="0"/>
              </a:rPr>
              <a:t>To compare proposed closed-loop SSL–AL with random querying under concept drift</a:t>
            </a:r>
          </a:p>
          <a:p>
            <a:pPr algn="just"/>
            <a:endParaRPr lang="en-IN" b="1"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Implementation Details</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Disagreement-based querying vs random sampling</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Fixed labeling budget per chunk</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Same data stream for fair comparison</a:t>
            </a:r>
          </a:p>
        </p:txBody>
      </p:sp>
      <p:pic>
        <p:nvPicPr>
          <p:cNvPr id="3" name="object 3">
            <a:extLst>
              <a:ext uri="{FF2B5EF4-FFF2-40B4-BE49-F238E27FC236}">
                <a16:creationId xmlns:a16="http://schemas.microsoft.com/office/drawing/2014/main" id="{19E0B69C-2952-2EB2-EDDE-A25EDDF8D448}"/>
              </a:ext>
            </a:extLst>
          </p:cNvPr>
          <p:cNvPicPr/>
          <p:nvPr/>
        </p:nvPicPr>
        <p:blipFill>
          <a:blip r:embed="rId3" cstate="print"/>
          <a:stretch>
            <a:fillRect/>
          </a:stretch>
        </p:blipFill>
        <p:spPr>
          <a:xfrm>
            <a:off x="6804025" y="-63"/>
            <a:ext cx="2339975" cy="935037"/>
          </a:xfrm>
          <a:prstGeom prst="rect">
            <a:avLst/>
          </a:prstGeom>
        </p:spPr>
      </p:pic>
      <p:sp>
        <p:nvSpPr>
          <p:cNvPr id="4" name="object 4">
            <a:extLst>
              <a:ext uri="{FF2B5EF4-FFF2-40B4-BE49-F238E27FC236}">
                <a16:creationId xmlns:a16="http://schemas.microsoft.com/office/drawing/2014/main" id="{9F6E96D8-43B9-F6D8-1622-EB01B9C16F8A}"/>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14</a:t>
            </a:fld>
            <a:endParaRPr spc="-25" dirty="0"/>
          </a:p>
        </p:txBody>
      </p:sp>
      <p:sp>
        <p:nvSpPr>
          <p:cNvPr id="6" name="TextBox 5">
            <a:extLst>
              <a:ext uri="{FF2B5EF4-FFF2-40B4-BE49-F238E27FC236}">
                <a16:creationId xmlns:a16="http://schemas.microsoft.com/office/drawing/2014/main" id="{B661EBB3-A865-65FE-759A-319D16540FC5}"/>
              </a:ext>
            </a:extLst>
          </p:cNvPr>
          <p:cNvSpPr txBox="1"/>
          <p:nvPr/>
        </p:nvSpPr>
        <p:spPr>
          <a:xfrm>
            <a:off x="1866900" y="373334"/>
            <a:ext cx="5410200" cy="523220"/>
          </a:xfrm>
          <a:prstGeom prst="rect">
            <a:avLst/>
          </a:prstGeom>
          <a:noFill/>
        </p:spPr>
        <p:txBody>
          <a:bodyPr wrap="square">
            <a:spAutoFit/>
          </a:bodyPr>
          <a:lstStyle/>
          <a:p>
            <a:pPr marL="530225" algn="l">
              <a:lnSpc>
                <a:spcPct val="100000"/>
              </a:lnSpc>
              <a:spcBef>
                <a:spcPts val="95"/>
              </a:spcBef>
            </a:pPr>
            <a:r>
              <a:rPr lang="en-IN" sz="2800" b="1" dirty="0">
                <a:latin typeface="Times New Roman"/>
                <a:cs typeface="Times New Roman"/>
              </a:rPr>
              <a:t>Status</a:t>
            </a:r>
            <a:r>
              <a:rPr lang="en-IN" sz="2800" b="1" spc="-40" dirty="0">
                <a:latin typeface="Times New Roman"/>
                <a:cs typeface="Times New Roman"/>
              </a:rPr>
              <a:t> </a:t>
            </a:r>
            <a:r>
              <a:rPr lang="en-IN" sz="2800" b="1" dirty="0">
                <a:latin typeface="Times New Roman"/>
                <a:cs typeface="Times New Roman"/>
              </a:rPr>
              <a:t>of</a:t>
            </a:r>
            <a:r>
              <a:rPr lang="en-IN" sz="2800" b="1" spc="-50" dirty="0">
                <a:latin typeface="Times New Roman"/>
                <a:cs typeface="Times New Roman"/>
              </a:rPr>
              <a:t> </a:t>
            </a:r>
            <a:r>
              <a:rPr lang="en-IN" sz="2800" b="1" spc="-10" dirty="0">
                <a:latin typeface="Times New Roman"/>
                <a:cs typeface="Times New Roman"/>
              </a:rPr>
              <a:t>Implementation</a:t>
            </a:r>
            <a:endParaRPr lang="en-IN" sz="2800" dirty="0">
              <a:latin typeface="Times New Roman"/>
              <a:cs typeface="Times New Roman"/>
            </a:endParaRPr>
          </a:p>
        </p:txBody>
      </p:sp>
    </p:spTree>
    <p:extLst>
      <p:ext uri="{BB962C8B-B14F-4D97-AF65-F5344CB8AC3E}">
        <p14:creationId xmlns:p14="http://schemas.microsoft.com/office/powerpoint/2010/main" val="1640196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591" y="467455"/>
            <a:ext cx="8484819" cy="632481"/>
          </a:xfrm>
          <a:prstGeom prst="rect">
            <a:avLst/>
          </a:prstGeom>
        </p:spPr>
        <p:txBody>
          <a:bodyPr vert="horz" wrap="square" lIns="0" tIns="199644" rIns="0" bIns="0" rtlCol="0">
            <a:spAutoFit/>
          </a:bodyPr>
          <a:lstStyle/>
          <a:p>
            <a:pPr marL="2905125">
              <a:lnSpc>
                <a:spcPct val="100000"/>
              </a:lnSpc>
              <a:spcBef>
                <a:spcPts val="105"/>
              </a:spcBef>
            </a:pPr>
            <a:r>
              <a:rPr spc="-10" dirty="0">
                <a:solidFill>
                  <a:srgbClr val="000000"/>
                </a:solidFill>
              </a:rPr>
              <a:t>Conclusion</a:t>
            </a:r>
            <a:endParaRPr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15</a:t>
            </a:fld>
            <a:endParaRPr spc="-25" dirty="0"/>
          </a:p>
        </p:txBody>
      </p:sp>
      <p:sp>
        <p:nvSpPr>
          <p:cNvPr id="3" name="object 3"/>
          <p:cNvSpPr txBox="1"/>
          <p:nvPr/>
        </p:nvSpPr>
        <p:spPr>
          <a:xfrm>
            <a:off x="329591" y="1447800"/>
            <a:ext cx="8433410" cy="2413481"/>
          </a:xfrm>
          <a:prstGeom prst="rect">
            <a:avLst/>
          </a:prstGeom>
        </p:spPr>
        <p:txBody>
          <a:bodyPr vert="horz" wrap="square" lIns="0" tIns="165100" rIns="0" bIns="0" rtlCol="0">
            <a:spAutoFit/>
          </a:bodyPr>
          <a:lstStyle/>
          <a:p>
            <a:pPr marL="469900" indent="-457200" algn="just">
              <a:lnSpc>
                <a:spcPct val="100000"/>
              </a:lnSpc>
              <a:spcBef>
                <a:spcPts val="1300"/>
              </a:spcBef>
              <a:buFont typeface="Wingdings"/>
              <a:buChar char=""/>
              <a:tabLst>
                <a:tab pos="469900" algn="l"/>
              </a:tabLst>
            </a:pPr>
            <a:r>
              <a:rPr b="1" dirty="0">
                <a:latin typeface="Times New Roman" panose="02020603050405020304" pitchFamily="18" charset="0"/>
                <a:cs typeface="Times New Roman" panose="02020603050405020304" pitchFamily="18" charset="0"/>
              </a:rPr>
              <a:t>Summary</a:t>
            </a:r>
            <a:r>
              <a:rPr b="1" spc="-15"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of</a:t>
            </a:r>
            <a:r>
              <a:rPr b="1" spc="-35" dirty="0">
                <a:latin typeface="Times New Roman" panose="02020603050405020304" pitchFamily="18" charset="0"/>
                <a:cs typeface="Times New Roman" panose="02020603050405020304" pitchFamily="18" charset="0"/>
              </a:rPr>
              <a:t> </a:t>
            </a:r>
            <a:r>
              <a:rPr b="1" spc="-10" dirty="0">
                <a:latin typeface="Times New Roman" panose="02020603050405020304" pitchFamily="18" charset="0"/>
                <a:cs typeface="Times New Roman" panose="02020603050405020304" pitchFamily="18" charset="0"/>
              </a:rPr>
              <a:t>progress</a:t>
            </a:r>
            <a:r>
              <a:rPr lang="en-IN" spc="-1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Core closed-loop SSL–AL framework implemented, evaluated on streaming data, and validated through accuracy and adaptation results.</a:t>
            </a:r>
            <a:endParaRPr dirty="0">
              <a:latin typeface="Times New Roman" panose="02020603050405020304" pitchFamily="18" charset="0"/>
              <a:cs typeface="Times New Roman" panose="02020603050405020304" pitchFamily="18" charset="0"/>
            </a:endParaRPr>
          </a:p>
          <a:p>
            <a:pPr marL="469900" indent="-457200" algn="just">
              <a:lnSpc>
                <a:spcPct val="100000"/>
              </a:lnSpc>
              <a:spcBef>
                <a:spcPts val="1200"/>
              </a:spcBef>
              <a:buFont typeface="Wingdings"/>
              <a:buChar char=""/>
              <a:tabLst>
                <a:tab pos="469900" algn="l"/>
              </a:tabLst>
            </a:pPr>
            <a:r>
              <a:rPr b="1" spc="-35" dirty="0">
                <a:latin typeface="Times New Roman" panose="02020603050405020304" pitchFamily="18" charset="0"/>
                <a:cs typeface="Times New Roman" panose="02020603050405020304" pitchFamily="18" charset="0"/>
              </a:rPr>
              <a:t>Team’s</a:t>
            </a:r>
            <a:r>
              <a:rPr b="1" spc="-20"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confidence</a:t>
            </a:r>
            <a:r>
              <a:rPr b="1" spc="-50"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on</a:t>
            </a:r>
            <a:r>
              <a:rPr b="1" spc="-30"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project</a:t>
            </a:r>
            <a:r>
              <a:rPr b="1" spc="-70" dirty="0">
                <a:latin typeface="Times New Roman" panose="02020603050405020304" pitchFamily="18" charset="0"/>
                <a:cs typeface="Times New Roman" panose="02020603050405020304" pitchFamily="18" charset="0"/>
              </a:rPr>
              <a:t> </a:t>
            </a:r>
            <a:r>
              <a:rPr b="1" spc="-10" dirty="0">
                <a:latin typeface="Times New Roman" panose="02020603050405020304" pitchFamily="18" charset="0"/>
                <a:cs typeface="Times New Roman" panose="02020603050405020304" pitchFamily="18" charset="0"/>
              </a:rPr>
              <a:t>completion</a:t>
            </a:r>
            <a:r>
              <a:rPr lang="en-IN" b="1" spc="-1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team is confident in completing the project on time, supported by stable performance, incremental learning capability, and effective handling of concept drift.</a:t>
            </a:r>
            <a:endParaRPr b="1" dirty="0">
              <a:latin typeface="Times New Roman" panose="02020603050405020304" pitchFamily="18" charset="0"/>
              <a:cs typeface="Times New Roman" panose="02020603050405020304" pitchFamily="18" charset="0"/>
            </a:endParaRPr>
          </a:p>
          <a:p>
            <a:pPr marL="469900" indent="-457200" algn="just">
              <a:lnSpc>
                <a:spcPct val="100000"/>
              </a:lnSpc>
              <a:spcBef>
                <a:spcPts val="1200"/>
              </a:spcBef>
              <a:buFont typeface="Wingdings"/>
              <a:buChar char=""/>
              <a:tabLst>
                <a:tab pos="469900" algn="l"/>
              </a:tabLst>
            </a:pPr>
            <a:r>
              <a:rPr b="1" dirty="0">
                <a:latin typeface="Times New Roman" panose="02020603050405020304" pitchFamily="18" charset="0"/>
                <a:cs typeface="Times New Roman" panose="02020603050405020304" pitchFamily="18" charset="0"/>
              </a:rPr>
              <a:t>Expected</a:t>
            </a:r>
            <a:r>
              <a:rPr b="1" spc="-50"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outcomes</a:t>
            </a:r>
            <a:r>
              <a:rPr b="1" spc="-20"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or</a:t>
            </a:r>
            <a:r>
              <a:rPr b="1" spc="-20" dirty="0">
                <a:latin typeface="Times New Roman" panose="02020603050405020304" pitchFamily="18" charset="0"/>
                <a:cs typeface="Times New Roman" panose="02020603050405020304" pitchFamily="18" charset="0"/>
              </a:rPr>
              <a:t> </a:t>
            </a:r>
            <a:r>
              <a:rPr b="1" spc="-10" dirty="0">
                <a:latin typeface="Times New Roman" panose="02020603050405020304" pitchFamily="18" charset="0"/>
                <a:cs typeface="Times New Roman" panose="02020603050405020304" pitchFamily="18" charset="0"/>
              </a:rPr>
              <a:t>impact</a:t>
            </a:r>
            <a:r>
              <a:rPr lang="en-IN" b="1" spc="-1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Efficient, label-aware, and drift-resilient learning framework suitable for real-world data streams.</a:t>
            </a:r>
            <a:endParaRPr b="1" dirty="0">
              <a:latin typeface="Times New Roman" panose="02020603050405020304" pitchFamily="18" charset="0"/>
              <a:cs typeface="Times New Roman" panose="02020603050405020304" pitchFamily="18" charset="0"/>
            </a:endParaRPr>
          </a:p>
        </p:txBody>
      </p:sp>
      <p:pic>
        <p:nvPicPr>
          <p:cNvPr id="5" name="object 3">
            <a:extLst>
              <a:ext uri="{FF2B5EF4-FFF2-40B4-BE49-F238E27FC236}">
                <a16:creationId xmlns:a16="http://schemas.microsoft.com/office/drawing/2014/main" id="{90D45F7C-446F-AC6D-00A3-72B52D6F946D}"/>
              </a:ext>
            </a:extLst>
          </p:cNvPr>
          <p:cNvPicPr/>
          <p:nvPr/>
        </p:nvPicPr>
        <p:blipFill>
          <a:blip r:embed="rId2" cstate="print"/>
          <a:stretch>
            <a:fillRect/>
          </a:stretch>
        </p:blipFill>
        <p:spPr>
          <a:xfrm>
            <a:off x="6804025" y="-63"/>
            <a:ext cx="2339975" cy="93503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04025" y="-63"/>
            <a:ext cx="2339975" cy="935037"/>
          </a:xfrm>
          <a:prstGeom prst="rect">
            <a:avLst/>
          </a:prstGeom>
        </p:spPr>
      </p:pic>
      <p:sp>
        <p:nvSpPr>
          <p:cNvPr id="3" name="object 3"/>
          <p:cNvSpPr txBox="1"/>
          <p:nvPr/>
        </p:nvSpPr>
        <p:spPr>
          <a:xfrm>
            <a:off x="331419" y="836207"/>
            <a:ext cx="8703945" cy="5319405"/>
          </a:xfrm>
          <a:prstGeom prst="rect">
            <a:avLst/>
          </a:prstGeom>
        </p:spPr>
        <p:txBody>
          <a:bodyPr vert="horz" wrap="square" lIns="0" tIns="73660" rIns="0" bIns="0" rtlCol="0">
            <a:spAutoFit/>
          </a:bodyPr>
          <a:lstStyle/>
          <a:p>
            <a:pPr marL="12700">
              <a:lnSpc>
                <a:spcPct val="100000"/>
              </a:lnSpc>
              <a:spcBef>
                <a:spcPts val="484"/>
              </a:spcBef>
            </a:pPr>
            <a:r>
              <a:rPr sz="2000" b="1" i="1" u="sng" spc="-10" dirty="0">
                <a:uFill>
                  <a:solidFill>
                    <a:srgbClr val="000000"/>
                  </a:solidFill>
                </a:uFill>
                <a:latin typeface="Times New Roman"/>
                <a:cs typeface="Times New Roman"/>
              </a:rPr>
              <a:t>Journals</a:t>
            </a:r>
            <a:endParaRPr sz="2000" dirty="0">
              <a:latin typeface="Times New Roman"/>
              <a:cs typeface="Times New Roman"/>
            </a:endParaRPr>
          </a:p>
          <a:p>
            <a:pPr marL="469900" marR="83820" indent="-457200">
              <a:spcBef>
                <a:spcPts val="480"/>
              </a:spcBef>
              <a:buFont typeface="+mj-lt"/>
              <a:buAutoNum type="arabicPeriod"/>
            </a:pPr>
            <a:r>
              <a:rPr lang="en-IN" altLang="en-US" sz="2000" dirty="0">
                <a:latin typeface="Times New Roman" panose="02020603050405020304" pitchFamily="18" charset="0"/>
                <a:cs typeface="Times New Roman" panose="02020603050405020304" pitchFamily="18" charset="0"/>
              </a:rPr>
              <a:t>Z. Tong, W. Li, B. Zhang, F. Jiang, and G. Zhou, “Online bearing fault diagnosis based on a novel multiple data streams transmission scheme,” IEEE Access, vol. 7, pp. 66644–66654, 2019.</a:t>
            </a:r>
          </a:p>
          <a:p>
            <a:pPr marL="469900" marR="83820" indent="-457200">
              <a:spcBef>
                <a:spcPts val="480"/>
              </a:spcBef>
              <a:buFont typeface="+mj-lt"/>
              <a:buAutoNum type="arabicPeriod"/>
            </a:pPr>
            <a:r>
              <a:rPr lang="en-IN" altLang="en-US" sz="2000" dirty="0">
                <a:latin typeface="Times New Roman" panose="02020603050405020304" pitchFamily="18" charset="0"/>
                <a:cs typeface="Times New Roman" panose="02020603050405020304" pitchFamily="18" charset="0"/>
              </a:rPr>
              <a:t>A. Preece et al., “Sentinel: A codesigned platform for semantic enrichment of social media streams,” IEEE Trans. </a:t>
            </a:r>
            <a:r>
              <a:rPr lang="en-IN" altLang="en-US" sz="2000" dirty="0" err="1">
                <a:latin typeface="Times New Roman" panose="02020603050405020304" pitchFamily="18" charset="0"/>
                <a:cs typeface="Times New Roman" panose="02020603050405020304" pitchFamily="18" charset="0"/>
              </a:rPr>
              <a:t>Comput</a:t>
            </a:r>
            <a:r>
              <a:rPr lang="en-IN" altLang="en-US" sz="2000" dirty="0">
                <a:latin typeface="Times New Roman" panose="02020603050405020304" pitchFamily="18" charset="0"/>
                <a:cs typeface="Times New Roman" panose="02020603050405020304" pitchFamily="18" charset="0"/>
              </a:rPr>
              <a:t>. Social Syst., vol. 5, no. 1, pp. 118–131, Mar. 2018.</a:t>
            </a:r>
            <a:endParaRPr lang="en-IN" altLang="en-US" sz="2000" b="1" dirty="0">
              <a:latin typeface="Times New Roman" panose="02020603050405020304" pitchFamily="18" charset="0"/>
              <a:cs typeface="Times New Roman" panose="02020603050405020304" pitchFamily="18" charset="0"/>
            </a:endParaRPr>
          </a:p>
          <a:p>
            <a:pPr marL="469900" marR="83820" indent="-457200">
              <a:spcBef>
                <a:spcPts val="480"/>
              </a:spcBef>
              <a:buFont typeface="+mj-lt"/>
              <a:buAutoNum type="arabicPeriod"/>
            </a:pPr>
            <a:r>
              <a:rPr lang="en-IN" altLang="en-US" sz="2000" dirty="0">
                <a:latin typeface="Times New Roman" panose="02020603050405020304" pitchFamily="18" charset="0"/>
                <a:cs typeface="Times New Roman" panose="02020603050405020304" pitchFamily="18" charset="0"/>
              </a:rPr>
              <a:t>G. Ditzler and R. </a:t>
            </a:r>
            <a:r>
              <a:rPr lang="en-IN" altLang="en-US" sz="2000" dirty="0" err="1">
                <a:latin typeface="Times New Roman" panose="02020603050405020304" pitchFamily="18" charset="0"/>
                <a:cs typeface="Times New Roman" panose="02020603050405020304" pitchFamily="18" charset="0"/>
              </a:rPr>
              <a:t>Polikar</a:t>
            </a:r>
            <a:r>
              <a:rPr lang="en-IN" altLang="en-US" sz="2000" dirty="0">
                <a:latin typeface="Times New Roman" panose="02020603050405020304" pitchFamily="18" charset="0"/>
                <a:cs typeface="Times New Roman" panose="02020603050405020304" pitchFamily="18" charset="0"/>
              </a:rPr>
              <a:t>, “Incremental learning of concept drift from streaming imbalanced data,” IEEE Trans. </a:t>
            </a:r>
            <a:r>
              <a:rPr lang="en-IN" altLang="en-US" sz="2000" dirty="0" err="1">
                <a:latin typeface="Times New Roman" panose="02020603050405020304" pitchFamily="18" charset="0"/>
                <a:cs typeface="Times New Roman" panose="02020603050405020304" pitchFamily="18" charset="0"/>
              </a:rPr>
              <a:t>Knowl</a:t>
            </a:r>
            <a:r>
              <a:rPr lang="en-IN" altLang="en-US" sz="2000" dirty="0">
                <a:latin typeface="Times New Roman" panose="02020603050405020304" pitchFamily="18" charset="0"/>
                <a:cs typeface="Times New Roman" panose="02020603050405020304" pitchFamily="18" charset="0"/>
              </a:rPr>
              <a:t>. Data Eng., vol. 25, no. 10, pp. 2283–2301, Oct. 2013.</a:t>
            </a:r>
            <a:endParaRPr lang="en-IN" altLang="en-US" sz="2000" b="1" dirty="0">
              <a:latin typeface="Times New Roman" panose="02020603050405020304" pitchFamily="18" charset="0"/>
              <a:cs typeface="Times New Roman" panose="02020603050405020304" pitchFamily="18" charset="0"/>
            </a:endParaRPr>
          </a:p>
          <a:p>
            <a:pPr marL="469900" marR="83820" indent="-457200">
              <a:spcBef>
                <a:spcPts val="480"/>
              </a:spcBef>
              <a:buFont typeface="+mj-lt"/>
              <a:buAutoNum type="arabicPeriod"/>
            </a:pPr>
            <a:r>
              <a:rPr lang="en-IN" altLang="en-US" sz="2000" dirty="0">
                <a:latin typeface="Times New Roman" panose="02020603050405020304" pitchFamily="18" charset="0"/>
                <a:cs typeface="Times New Roman" panose="02020603050405020304" pitchFamily="18" charset="0"/>
              </a:rPr>
              <a:t>B. Jiao, Y. Guo, C. Yang, J. Pu, Z. Zheng, and D. Gong, “Incremental weighted ensemble for data streams with concept drift,” IEEE Trans. </a:t>
            </a:r>
            <a:r>
              <a:rPr lang="en-IN" altLang="en-US" sz="2000" dirty="0" err="1">
                <a:latin typeface="Times New Roman" panose="02020603050405020304" pitchFamily="18" charset="0"/>
                <a:cs typeface="Times New Roman" panose="02020603050405020304" pitchFamily="18" charset="0"/>
              </a:rPr>
              <a:t>Artif</a:t>
            </a:r>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Intell</a:t>
            </a:r>
            <a:r>
              <a:rPr lang="en-IN" altLang="en-US" sz="2000" dirty="0">
                <a:latin typeface="Times New Roman" panose="02020603050405020304" pitchFamily="18" charset="0"/>
                <a:cs typeface="Times New Roman" panose="02020603050405020304" pitchFamily="18" charset="0"/>
              </a:rPr>
              <a:t>., vol. 5, no. 1, pp. 92–103, Jan. 2024.</a:t>
            </a:r>
            <a:endParaRPr lang="en-IN" altLang="en-US" sz="2000" b="1" dirty="0">
              <a:latin typeface="Times New Roman" panose="02020603050405020304" pitchFamily="18" charset="0"/>
              <a:cs typeface="Times New Roman" panose="02020603050405020304" pitchFamily="18" charset="0"/>
            </a:endParaRPr>
          </a:p>
          <a:p>
            <a:pPr marL="469900" marR="83820" indent="-457200">
              <a:spcBef>
                <a:spcPts val="480"/>
              </a:spcBef>
              <a:buFont typeface="+mj-lt"/>
              <a:buAutoNum type="arabicPeriod"/>
            </a:pPr>
            <a:r>
              <a:rPr lang="en-IN" altLang="en-US" sz="2000" dirty="0">
                <a:latin typeface="Times New Roman" panose="02020603050405020304" pitchFamily="18" charset="0"/>
                <a:cs typeface="Times New Roman" panose="02020603050405020304" pitchFamily="18" charset="0"/>
              </a:rPr>
              <a:t>Y. Song, J. Lu, A. Liu, H. Lu, and G. Zhang, “A segment-based drift adaptation method for data streams,” IEEE Trans. Neural </a:t>
            </a:r>
            <a:r>
              <a:rPr lang="en-IN" altLang="en-US" sz="2000" dirty="0" err="1">
                <a:latin typeface="Times New Roman" panose="02020603050405020304" pitchFamily="18" charset="0"/>
                <a:cs typeface="Times New Roman" panose="02020603050405020304" pitchFamily="18" charset="0"/>
              </a:rPr>
              <a:t>Netw</a:t>
            </a:r>
            <a:r>
              <a:rPr lang="en-IN" altLang="en-US" sz="2000" dirty="0">
                <a:latin typeface="Times New Roman" panose="02020603050405020304" pitchFamily="18" charset="0"/>
                <a:cs typeface="Times New Roman" panose="02020603050405020304" pitchFamily="18" charset="0"/>
              </a:rPr>
              <a:t>. Learn. Syst., vol. 33, no. 9, pp. 4876–4889, Sep. 2022.</a:t>
            </a:r>
          </a:p>
        </p:txBody>
      </p:sp>
      <p:sp>
        <p:nvSpPr>
          <p:cNvPr id="4" name="object 4"/>
          <p:cNvSpPr txBox="1">
            <a:spLocks noGrp="1"/>
          </p:cNvSpPr>
          <p:nvPr>
            <p:ph type="title"/>
          </p:nvPr>
        </p:nvSpPr>
        <p:spPr>
          <a:xfrm>
            <a:off x="3790950" y="292353"/>
            <a:ext cx="1442085"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0000"/>
                </a:solidFill>
              </a:rPr>
              <a:t>References</a:t>
            </a:r>
            <a:endParaRPr sz="2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1518</TotalTime>
  <Words>1179</Words>
  <Application>Microsoft Office PowerPoint</Application>
  <PresentationFormat>On-screen Show (4:3)</PresentationFormat>
  <Paragraphs>112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 MT</vt:lpstr>
      <vt:lpstr>Calibri</vt:lpstr>
      <vt:lpstr>Cambria Math</vt:lpstr>
      <vt:lpstr>Times New Roman</vt:lpstr>
      <vt:lpstr>Wingdings</vt:lpstr>
      <vt:lpstr>Office Theme</vt:lpstr>
      <vt:lpstr>A Semi- Supervised Active Learning Neural Network for Data Streams With Concept Drift</vt:lpstr>
      <vt:lpstr>CONTENTS</vt:lpstr>
      <vt:lpstr>Problem Statement</vt:lpstr>
      <vt:lpstr>Objectives</vt:lpstr>
      <vt:lpstr>Design Strategy</vt:lpstr>
      <vt:lpstr>PowerPoint Presentation</vt:lpstr>
      <vt:lpstr>Feedback from Guide/Reviewers and actions taken after Review–2</vt:lpstr>
      <vt:lpstr>Methodology</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SREEJA SISTLA</cp:lastModifiedBy>
  <cp:revision>12</cp:revision>
  <dcterms:created xsi:type="dcterms:W3CDTF">2026-02-07T16:51:50Z</dcterms:created>
  <dcterms:modified xsi:type="dcterms:W3CDTF">2026-02-10T03:26:45Z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2026-02-04T00:00:00Z</vt:filetime>
  </property>
  <property fmtid="{D5CDD505-2E9C-101B-9397-08002B2CF9AE}" pid="3" name="Creator">
    <vt:lpwstr>Microsoft® PowerPoint® LTSC</vt:lpwstr>
  </property>
  <property fmtid="{D5CDD505-2E9C-101B-9397-08002B2CF9AE}" pid="4" name="LastSaved">
    <vt:filetime>2026-02-07T00:00:00Z</vt:filetime>
  </property>
  <property fmtid="{D5CDD505-2E9C-101B-9397-08002B2CF9AE}" pid="5" name="Producer">
    <vt:lpwstr>Microsoft® PowerPoint® LTSC</vt:lpwstr>
  </property>
</Properties>
</file>